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5880a8b71f4af7" /><Relationship Type="http://schemas.openxmlformats.org/officeDocument/2006/relationships/extended-properties" Target="/docProps/app.xml" Id="R81761c01e7f5487c" /><Relationship Type="http://schemas.openxmlformats.org/officeDocument/2006/relationships/officeDocument" Target="/ppt/presentation.xml" Id="R7a0e708b9a6648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869b9d46dc4183"/>
  </p:sldMasterIdLst>
  <p:notesMasterIdLst>
    <p:notesMasterId xmlns:r="http://schemas.openxmlformats.org/officeDocument/2006/relationships" r:id="R8c7004e0828e45cb"/>
  </p:notesMasterIdLst>
  <p:sldIdLst>
    <p:sldId xmlns:r="http://schemas.openxmlformats.org/officeDocument/2006/relationships" id="256" r:id="Rf10584d005cd498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26f6868a6b4c63" /><Relationship Type="http://schemas.openxmlformats.org/officeDocument/2006/relationships/slideMaster" Target="/ppt/slideMasters/slideMaster1.xml" Id="Rb4869b9d46dc4183" /><Relationship Type="http://schemas.openxmlformats.org/officeDocument/2006/relationships/notesMaster" Target="/ppt/notesMasters/notesMaster1.xml" Id="R8c7004e0828e45cb" /><Relationship Type="http://schemas.openxmlformats.org/officeDocument/2006/relationships/presProps" Target="/ppt/presProps.xml" Id="Rd96f034a25f5441d" /><Relationship Type="http://schemas.openxmlformats.org/officeDocument/2006/relationships/viewProps" Target="/ppt/viewProps.xml" Id="Rb3450b9868e3420e" /><Relationship Type="http://schemas.openxmlformats.org/officeDocument/2006/relationships/tableStyles" Target="/ppt/tableStyles.xml" Id="R6a8f1b15e9fc4246" /><Relationship Type="http://schemas.openxmlformats.org/officeDocument/2006/relationships/slide" Target="/ppt/slides/slide1.xml" Id="Rf10584d005cd49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66696a3d1a49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d6c168faec4e24" /><Relationship Type="http://schemas.openxmlformats.org/officeDocument/2006/relationships/notesMaster" Target="/ppt/notesMasters/notesMaster1.xml" Id="R76654cbc62c34a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Figure 2 architecture.</a:t>
            </a:r>
          </a:p>
          <a:p xmlns:a="http://schemas.openxmlformats.org/drawingml/2006/main">
            <a:r>
              <a:t>- The one displayed equation is the core masked-attention operation. Full, limited, and regional-crop images all derive from the same local UWF source image. The masks are synthetic visibility restrictions, not real paired acquisitions. The paired audit begins only after p_F and p_L are available. Diagnostic sufficiency is the clinical motivation; model-specific retinal evidence availability is the operational construct.</a:t>
            </a:r>
          </a:p>
          <a:p xmlns:a="http://schemas.openxmlformats.org/drawingml/2006/main">
            <a:r>
              <a:t>- Source image: one local de-identified UWF fundus image in the RegionSuff project assets.</a:t>
            </a:r>
          </a:p>
          <a:p xmlns:a="http://schemas.openxmlformats.org/drawingml/2006/main">
            <a:r>
              <a:t>- Method labels and cohort counts: RegionSuff_1.9.docx, Methods Sections 2.3–2.8.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8a75ec10f40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a7e9e3c6a748a7" /><Relationship Type="http://schemas.openxmlformats.org/officeDocument/2006/relationships/slideLayout" Target="/ppt/slideLayouts/slideLayout1.xml" Id="R42b1cb64b08b4d1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b1cb64b08b4d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9396822ef4272" /><Relationship Type="http://schemas.openxmlformats.org/officeDocument/2006/relationships/image" Target="/ppt/media/image.png" Id="R3ce4490153654bc9" /><Relationship Type="http://schemas.openxmlformats.org/officeDocument/2006/relationships/image" Target="/ppt/media/image2.png" Id="Rc01c2691cf924cfa" /><Relationship Type="http://schemas.openxmlformats.org/officeDocument/2006/relationships/image" Target="/ppt/media/image3.png" Id="Reef0d025d74d40cf" /><Relationship Type="http://schemas.openxmlformats.org/officeDocument/2006/relationships/image" Target="/ppt/media/image4.png" Id="R658c39c32c4345db" /><Relationship Type="http://schemas.openxmlformats.org/officeDocument/2006/relationships/image" Target="/ppt/media/image5.png" Id="R4db37966a81e44d3" /><Relationship Type="http://schemas.openxmlformats.org/officeDocument/2006/relationships/image" Target="/ppt/media/image6.png" Id="Rd57c91be7489481a" /><Relationship Type="http://schemas.openxmlformats.org/officeDocument/2006/relationships/image" Target="/ppt/media/image.svg" Id="Rcd701ee5ef2e46a0" /><Relationship Type="http://schemas.openxmlformats.org/officeDocument/2006/relationships/notesSlide" Target="/ppt/notesSlides/notesSlide1.xml" Id="Rb25ce819f3734a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a-to-b">
            <a:extLst xmlns:a="http://schemas.openxmlformats.org/drawingml/2006/main">
              <a:ext uri="{FF2B5EF4-FFF2-40B4-BE49-F238E27FC236}">
                <a16:creationId xmlns:a16="http://schemas.microsoft.com/office/drawing/2014/main" id="{8D8D15D6-67BA-4966-8113-0BCB664A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C2B"/>
          </a:solidFill>
          <a:ln xmlns:a="http://schemas.openxmlformats.org/drawingml/2006/main" w="0">
            <a:solidFill>
              <a:srgbClr val="704C2B"/>
            </a:solidFill>
            <a:prstDash val="solid"/>
          </a:ln>
        </p:spPr>
      </p:sp>
      <p:sp>
        <p:nvSpPr>
          <p:cNvPr id="2" name="b-to-c">
            <a:extLst xmlns:a="http://schemas.openxmlformats.org/drawingml/2006/main">
              <a:ext uri="{FF2B5EF4-FFF2-40B4-BE49-F238E27FC236}">
                <a16:creationId xmlns:a16="http://schemas.microsoft.com/office/drawing/2014/main" id="{A862F84B-19F3-4009-A0C4-A2EFADE3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005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C2B"/>
          </a:solidFill>
          <a:ln xmlns:a="http://schemas.openxmlformats.org/drawingml/2006/main" w="0">
            <a:solidFill>
              <a:srgbClr val="704C2B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EFD858-AAE9-49A8-8CE9-9B93EB01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00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25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RegionSuff model: visibility-conditioned DR severity inference</a:t>
            </a:r>
            <a:endParaRPr sz="225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figure-number">
            <a:extLst xmlns:a="http://schemas.openxmlformats.org/drawingml/2006/main">
              <a:ext uri="{FF2B5EF4-FFF2-40B4-BE49-F238E27FC236}">
                <a16:creationId xmlns:a16="http://schemas.microsoft.com/office/drawing/2014/main" id="{69CC8A29-B11A-44BE-A7EF-B884F3CA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0480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4000"/>
              </a:lnSpc>
              <a:buNone/>
              <a:defRPr sz="1275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rPr>
              <a:t>FIGURE 2</a:t>
            </a:r>
            <a:endParaRPr sz="1275" b="1" i="0">
              <a:solidFill>
                <a:srgbClr val="78866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7BF1D23-BB56-4D45-8648-18176B4F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1421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0" i="0">
                <a:solidFill>
                  <a:srgbClr val="965E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965E4A"/>
                </a:solidFill>
                <a:latin typeface="Times New Roman"/>
                <a:ea typeface="Times New Roman"/>
                <a:cs typeface="Times New Roman"/>
              </a:rPr>
              <a:t>The same source UWF image is processed under explicit visibility masks; these control model-specific retinal evidence availability—not photographic quality.</a:t>
            </a:r>
            <a:endParaRPr sz="1400" b="0" i="0">
              <a:solidFill>
                <a:srgbClr val="965E4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BFACDF62-D7B9-4D64-93A5-AF6BB1C4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4325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solidFill>
              <a:srgbClr val="D8CABB"/>
            </a:solidFill>
            <a:prstDash val="solid"/>
          </a:ln>
        </p:spPr>
      </p:sp>
      <p:sp>
        <p:nvSpPr>
          <p:cNvPr id="7" name="header-A-badge">
            <a:extLst xmlns:a="http://schemas.openxmlformats.org/drawingml/2006/main">
              <a:ext uri="{FF2B5EF4-FFF2-40B4-BE49-F238E27FC236}">
                <a16:creationId xmlns:a16="http://schemas.microsoft.com/office/drawing/2014/main" id="{144963F0-8904-4A2A-B371-1072ECF9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381000" cy="2667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965E4A"/>
          </a:solidFill>
          <a:ln xmlns:a="http://schemas.openxmlformats.org/drawingml/2006/main" w="0">
            <a:solidFill>
              <a:srgbClr val="965E4A"/>
            </a:solidFill>
            <a:prstDash val="solid"/>
          </a:ln>
        </p:spPr>
      </p:sp>
      <p:sp>
        <p:nvSpPr>
          <p:cNvPr id="8" name="header-A-letter">
            <a:extLst xmlns:a="http://schemas.openxmlformats.org/drawingml/2006/main">
              <a:ext uri="{FF2B5EF4-FFF2-40B4-BE49-F238E27FC236}">
                <a16:creationId xmlns:a16="http://schemas.microsoft.com/office/drawing/2014/main" id="{4FA32D44-B4FE-427C-BF1B-1BD892CF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</a:t>
            </a:r>
            <a:endParaRPr sz="1165" b="1" i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header-A-title">
            <a:extLst xmlns:a="http://schemas.openxmlformats.org/drawingml/2006/main">
              <a:ext uri="{FF2B5EF4-FFF2-40B4-BE49-F238E27FC236}">
                <a16:creationId xmlns:a16="http://schemas.microsoft.com/office/drawing/2014/main" id="{C9146A5B-EE05-45A3-AECB-A010C590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04925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Same source image, different visible evidence</a:t>
            </a:r>
            <a:endParaRPr sz="1600" b="1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header-A-rule">
            <a:extLst xmlns:a="http://schemas.openxmlformats.org/drawingml/2006/main">
              <a:ext uri="{FF2B5EF4-FFF2-40B4-BE49-F238E27FC236}">
                <a16:creationId xmlns:a16="http://schemas.microsoft.com/office/drawing/2014/main" id="{521EECB0-41D1-48A0-8937-C131A34B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3905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5E4A"/>
          </a:solidFill>
          <a:ln xmlns:a="http://schemas.openxmlformats.org/drawingml/2006/main" w="0">
            <a:solidFill>
              <a:srgbClr val="965E4A"/>
            </a:solidFill>
            <a:prstDash val="solid"/>
          </a:ln>
        </p:spPr>
      </p:sp>
      <p:sp>
        <p:nvSpPr>
          <p:cNvPr id="11" name="a-explain">
            <a:extLst xmlns:a="http://schemas.openxmlformats.org/drawingml/2006/main">
              <a:ext uri="{FF2B5EF4-FFF2-40B4-BE49-F238E27FC236}">
                <a16:creationId xmlns:a16="http://schemas.microsoft.com/office/drawing/2014/main" id="{A1074E85-ECE3-4A48-A797-F265567C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Each 3 × 3 token is a real retinal crop, not an abstract placeholder</a:t>
            </a:r>
            <a:endParaRPr sz="14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a-full-edge">
            <a:extLst xmlns:a="http://schemas.openxmlformats.org/drawingml/2006/main">
              <a:ext uri="{FF2B5EF4-FFF2-40B4-BE49-F238E27FC236}">
                <a16:creationId xmlns:a16="http://schemas.microsoft.com/office/drawing/2014/main" id="{67B3D458-7C5A-4364-BE20-4C1B14D0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2305050" cy="2305050"/>
          </a:xfrm>
          <a:prstGeom xmlns:a="http://schemas.openxmlformats.org/drawingml/2006/main" prst="roundRect">
            <a:avLst>
              <a:gd name="adj" fmla="val 20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965E4A"/>
            </a:solidFill>
            <a:prstDash val="solid"/>
          </a:ln>
        </p:spPr>
      </p:sp>
      <p:pic>
        <p:nvPicPr>
          <p:cNvPr id="109" name="图片 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4490153654b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247900"/>
            <a:ext cx="2266950" cy="2266950"/>
          </a:xfrm>
          <a:prstGeom xmlns:a="http://schemas.openxmlformats.org/drawingml/2006/main" prst="rect">
            <a:avLst/>
          </a:prstGeom>
        </p:spPr>
      </p:pic>
      <p:sp>
        <p:nvSpPr>
          <p:cNvPr id="14" name="a-full-note">
            <a:extLst xmlns:a="http://schemas.openxmlformats.org/drawingml/2006/main">
              <a:ext uri="{FF2B5EF4-FFF2-40B4-BE49-F238E27FC236}">
                <a16:creationId xmlns:a16="http://schemas.microsoft.com/office/drawing/2014/main" id="{2C3E6133-FFE2-42FF-93EA-78173CD4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0" i="1">
                <a:solidFill>
                  <a:srgbClr val="6F62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1">
                <a:solidFill>
                  <a:srgbClr val="6F6259"/>
                </a:solidFill>
                <a:latin typeface="Times New Roman"/>
                <a:ea typeface="Times New Roman"/>
                <a:cs typeface="Times New Roman"/>
              </a:rPr>
              <a:t>Raw UWF evidence bank</a:t>
            </a:r>
            <a:endParaRPr sz="1400" b="0" i="1">
              <a:solidFill>
                <a:srgbClr val="6F6259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a-views">
            <a:extLst xmlns:a="http://schemas.openxmlformats.org/drawingml/2006/main">
              <a:ext uri="{FF2B5EF4-FFF2-40B4-BE49-F238E27FC236}">
                <a16:creationId xmlns:a16="http://schemas.microsoft.com/office/drawing/2014/main" id="{E9FCEE60-5FC8-4A36-9A75-EC512037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47900"/>
            <a:ext cx="1123950" cy="279527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0EA"/>
          </a:solidFill>
          <a:ln xmlns:a="http://schemas.openxmlformats.org/drawingml/2006/main" w="9525">
            <a:solidFill>
              <a:srgbClr val="D8CABB"/>
            </a:solidFill>
            <a:prstDash val="solid"/>
          </a:ln>
        </p:spPr>
      </p:sp>
      <p:sp>
        <p:nvSpPr>
          <p:cNvPr id="16" name="a-views-title">
            <a:extLst xmlns:a="http://schemas.openxmlformats.org/drawingml/2006/main">
              <a:ext uri="{FF2B5EF4-FFF2-40B4-BE49-F238E27FC236}">
                <a16:creationId xmlns:a16="http://schemas.microsoft.com/office/drawing/2014/main" id="{A6138B35-907D-44C0-86CC-E0F3BC2E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2410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40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rPr>
              <a:t>Visibility</a:t>
            </a:r>
            <a:endParaRPr sz="1400" b="1" i="0">
              <a:solidFill>
                <a:srgbClr val="78866B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240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rPr>
              <a:t>masks</a:t>
            </a:r>
            <a:endParaRPr sz="1400" b="1" i="0">
              <a:solidFill>
                <a:srgbClr val="78866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a-view-full-edge">
            <a:extLst xmlns:a="http://schemas.openxmlformats.org/drawingml/2006/main">
              <a:ext uri="{FF2B5EF4-FFF2-40B4-BE49-F238E27FC236}">
                <a16:creationId xmlns:a16="http://schemas.microsoft.com/office/drawing/2014/main" id="{3BA7FA6A-7841-40BA-8C44-72D67DA1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7810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C68A32"/>
            </a:solidFill>
            <a:prstDash val="solid"/>
          </a:ln>
        </p:spPr>
      </p:sp>
      <p:pic>
        <p:nvPicPr>
          <p:cNvPr id="114" name="图片 1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4490153654b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6600" y="27432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9" name="a-view-full-label">
            <a:extLst xmlns:a="http://schemas.openxmlformats.org/drawingml/2006/main">
              <a:ext uri="{FF2B5EF4-FFF2-40B4-BE49-F238E27FC236}">
                <a16:creationId xmlns:a16="http://schemas.microsoft.com/office/drawing/2014/main" id="{03AFC45C-D4E6-41AE-908C-242CACED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4330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Full-view</a:t>
            </a:r>
            <a:endParaRPr sz="12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a-view-cross-edge">
            <a:extLst xmlns:a="http://schemas.openxmlformats.org/drawingml/2006/main">
              <a:ext uri="{FF2B5EF4-FFF2-40B4-BE49-F238E27FC236}">
                <a16:creationId xmlns:a16="http://schemas.microsoft.com/office/drawing/2014/main" id="{152A2460-D8DB-4756-A2DF-DDEFF3B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67150"/>
            <a:ext cx="7810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B84067"/>
            </a:solidFill>
            <a:prstDash val="solid"/>
          </a:ln>
        </p:spPr>
      </p:sp>
      <p:pic>
        <p:nvPicPr>
          <p:cNvPr id="11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c2691cf92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6600" y="38862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2" name="a-view-cross-label">
            <a:extLst xmlns:a="http://schemas.openxmlformats.org/drawingml/2006/main">
              <a:ext uri="{FF2B5EF4-FFF2-40B4-BE49-F238E27FC236}">
                <a16:creationId xmlns:a16="http://schemas.microsoft.com/office/drawing/2014/main" id="{EA33D068-4CB4-4BB7-9A4A-814B2E63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8630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Center-plus-</a:t>
            </a:r>
            <a:endParaRPr sz="1200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cross</a:t>
            </a:r>
            <a:endParaRPr sz="1200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a-message">
            <a:extLst xmlns:a="http://schemas.openxmlformats.org/drawingml/2006/main">
              <a:ext uri="{FF2B5EF4-FFF2-40B4-BE49-F238E27FC236}">
                <a16:creationId xmlns:a16="http://schemas.microsoft.com/office/drawing/2014/main" id="{FD240258-0A46-45B0-91A0-C6B620A5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5" y="5572125"/>
            <a:ext cx="3638550" cy="112458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8E7CD"/>
          </a:solidFill>
          <a:ln xmlns:a="http://schemas.openxmlformats.org/drawingml/2006/main" w="9525">
            <a:solidFill>
              <a:srgbClr val="C68A32"/>
            </a:solidFill>
            <a:prstDash val="solid"/>
          </a:ln>
        </p:spPr>
      </p:sp>
      <p:sp>
        <p:nvSpPr>
          <p:cNvPr id="24" name="a-message-title">
            <a:extLst xmlns:a="http://schemas.openxmlformats.org/drawingml/2006/main">
              <a:ext uri="{FF2B5EF4-FFF2-40B4-BE49-F238E27FC236}">
                <a16:creationId xmlns:a16="http://schemas.microsoft.com/office/drawing/2014/main" id="{B5AC081D-E5DF-460B-908E-37233646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90" y="5676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Visibility is an explicit model input</a:t>
            </a:r>
            <a:endParaRPr sz="1275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a-message-copy">
            <a:extLst xmlns:a="http://schemas.openxmlformats.org/drawingml/2006/main">
              <a:ext uri="{FF2B5EF4-FFF2-40B4-BE49-F238E27FC236}">
                <a16:creationId xmlns:a16="http://schemas.microsoft.com/office/drawing/2014/main" id="{FEE3D6AB-3FC4-4D49-86C5-2BA78E5D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8647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85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The source DR label is retained; black tiles withhold the corresponding regional evidence from the model.</a:t>
            </a:r>
            <a:endParaRPr sz="14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" name="header-B-badge">
            <a:extLst xmlns:a="http://schemas.openxmlformats.org/drawingml/2006/main">
              <a:ext uri="{FF2B5EF4-FFF2-40B4-BE49-F238E27FC236}">
                <a16:creationId xmlns:a16="http://schemas.microsoft.com/office/drawing/2014/main" id="{30BDC865-90B1-4CE7-A529-A73EA849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314450"/>
            <a:ext cx="381000" cy="2667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78866B"/>
          </a:solidFill>
          <a:ln xmlns:a="http://schemas.openxmlformats.org/drawingml/2006/main" w="0">
            <a:solidFill>
              <a:srgbClr val="78866B"/>
            </a:solidFill>
            <a:prstDash val="solid"/>
          </a:ln>
        </p:spPr>
      </p:sp>
      <p:sp>
        <p:nvSpPr>
          <p:cNvPr id="27" name="header-B-letter">
            <a:extLst xmlns:a="http://schemas.openxmlformats.org/drawingml/2006/main">
              <a:ext uri="{FF2B5EF4-FFF2-40B4-BE49-F238E27FC236}">
                <a16:creationId xmlns:a16="http://schemas.microsoft.com/office/drawing/2014/main" id="{65CE40EE-1E1D-4110-84EA-FB944251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323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</a:t>
            </a:r>
            <a:endParaRPr sz="1165" b="1" i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header-B-title">
            <a:extLst xmlns:a="http://schemas.openxmlformats.org/drawingml/2006/main">
              <a:ext uri="{FF2B5EF4-FFF2-40B4-BE49-F238E27FC236}">
                <a16:creationId xmlns:a16="http://schemas.microsoft.com/office/drawing/2014/main" id="{5FB10CDD-CEE7-419D-A93D-B9D0EB19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304925"/>
            <a:ext cx="544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Shared RegionSuff severity model</a:t>
            </a:r>
            <a:endParaRPr sz="1600" b="1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header-B-rule">
            <a:extLst xmlns:a="http://schemas.openxmlformats.org/drawingml/2006/main">
              <a:ext uri="{FF2B5EF4-FFF2-40B4-BE49-F238E27FC236}">
                <a16:creationId xmlns:a16="http://schemas.microsoft.com/office/drawing/2014/main" id="{D34A2D28-4DA3-40FD-BCAE-64D49ECA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85925"/>
            <a:ext cx="59626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66B"/>
          </a:solidFill>
          <a:ln xmlns:a="http://schemas.openxmlformats.org/drawingml/2006/main" w="0">
            <a:solidFill>
              <a:srgbClr val="78866B"/>
            </a:solidFill>
            <a:prstDash val="solid"/>
          </a:ln>
        </p:spPr>
      </p:sp>
      <p:sp>
        <p:nvSpPr>
          <p:cNvPr id="30" name="b-intro">
            <a:extLst xmlns:a="http://schemas.openxmlformats.org/drawingml/2006/main">
              <a:ext uri="{FF2B5EF4-FFF2-40B4-BE49-F238E27FC236}">
                <a16:creationId xmlns:a16="http://schemas.microsoft.com/office/drawing/2014/main" id="{82D7971C-D9E9-4510-906C-FDE668E4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37690"/>
            <a:ext cx="569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Visible retinal crops pass through one shared encoder → projection → masked-attention pathway</a:t>
            </a:r>
            <a:endParaRPr sz="14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b-crops">
            <a:extLst xmlns:a="http://schemas.openxmlformats.org/drawingml/2006/main">
              <a:ext uri="{FF2B5EF4-FFF2-40B4-BE49-F238E27FC236}">
                <a16:creationId xmlns:a16="http://schemas.microsoft.com/office/drawing/2014/main" id="{0D8011AB-9FBD-4CC3-AF35-A1410BA9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52650"/>
            <a:ext cx="1790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0EA"/>
          </a:solidFill>
          <a:ln xmlns:a="http://schemas.openxmlformats.org/drawingml/2006/main" w="9525">
            <a:solidFill>
              <a:srgbClr val="965E4A"/>
            </a:solidFill>
            <a:prstDash val="solid"/>
          </a:ln>
        </p:spPr>
      </p:sp>
      <p:sp>
        <p:nvSpPr>
          <p:cNvPr id="32" name="b-crop-head">
            <a:extLst xmlns:a="http://schemas.openxmlformats.org/drawingml/2006/main">
              <a:ext uri="{FF2B5EF4-FFF2-40B4-BE49-F238E27FC236}">
                <a16:creationId xmlns:a16="http://schemas.microsoft.com/office/drawing/2014/main" id="{2AE878AA-C49F-425D-A5D7-DBB737A8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4188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40" b="1" i="0">
                <a:solidFill>
                  <a:srgbClr val="965E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1" i="0">
                <a:solidFill>
                  <a:srgbClr val="965E4A"/>
                </a:solidFill>
                <a:latin typeface="Times New Roman"/>
                <a:ea typeface="Times New Roman"/>
                <a:cs typeface="Times New Roman"/>
              </a:rPr>
              <a:t>Actual visible regional crops</a:t>
            </a:r>
            <a:endParaRPr sz="1240" b="1" i="0">
              <a:solidFill>
                <a:srgbClr val="965E4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3" name="b-crop-top-edge">
            <a:extLst xmlns:a="http://schemas.openxmlformats.org/drawingml/2006/main">
              <a:ext uri="{FF2B5EF4-FFF2-40B4-BE49-F238E27FC236}">
                <a16:creationId xmlns:a16="http://schemas.microsoft.com/office/drawing/2014/main" id="{9A7BE0C5-FC4B-4186-8574-F0CAD15E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86050"/>
            <a:ext cx="4953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965E4A"/>
            </a:solidFill>
            <a:prstDash val="solid"/>
          </a:ln>
        </p:spPr>
      </p:sp>
      <p:pic>
        <p:nvPicPr>
          <p:cNvPr id="130" name="图片 1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0d025d74d40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27019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5" name="b-crop-center-edge">
            <a:extLst xmlns:a="http://schemas.openxmlformats.org/drawingml/2006/main">
              <a:ext uri="{FF2B5EF4-FFF2-40B4-BE49-F238E27FC236}">
                <a16:creationId xmlns:a16="http://schemas.microsoft.com/office/drawing/2014/main" id="{3B125AD1-DF41-4B4B-8067-F72E7CF8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86050"/>
            <a:ext cx="4953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965E4A"/>
            </a:solidFill>
            <a:prstDash val="solid"/>
          </a:ln>
        </p:spPr>
      </p:sp>
      <p:pic>
        <p:nvPicPr>
          <p:cNvPr id="132" name="图片 1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c39c32c4345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27019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7" name="b-crop-right-edge">
            <a:extLst xmlns:a="http://schemas.openxmlformats.org/drawingml/2006/main">
              <a:ext uri="{FF2B5EF4-FFF2-40B4-BE49-F238E27FC236}">
                <a16:creationId xmlns:a16="http://schemas.microsoft.com/office/drawing/2014/main" id="{C0C9E29E-3C23-472F-9F71-6BF2E505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4953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965E4A"/>
            </a:solidFill>
            <a:prstDash val="solid"/>
          </a:ln>
        </p:spPr>
      </p:sp>
      <p:pic>
        <p:nvPicPr>
          <p:cNvPr id="134" name="图片 1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37966a81e44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702043"/>
            <a:ext cx="457200" cy="451884"/>
          </a:xfrm>
          <a:prstGeom xmlns:a="http://schemas.openxmlformats.org/drawingml/2006/main" prst="rect">
            <a:avLst/>
          </a:prstGeom>
        </p:spPr>
      </p:pic>
      <p:sp>
        <p:nvSpPr>
          <p:cNvPr id="39" name="b-to-encoder">
            <a:extLst xmlns:a="http://schemas.openxmlformats.org/drawingml/2006/main">
              <a:ext uri="{FF2B5EF4-FFF2-40B4-BE49-F238E27FC236}">
                <a16:creationId xmlns:a16="http://schemas.microsoft.com/office/drawing/2014/main" id="{BB2FBD46-FCF8-4001-99BF-7E7CF80A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3842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8A32"/>
          </a:solidFill>
          <a:ln xmlns:a="http://schemas.openxmlformats.org/drawingml/2006/main" w="0">
            <a:solidFill>
              <a:srgbClr val="C68A32"/>
            </a:solidFill>
            <a:prstDash val="solid"/>
          </a:ln>
        </p:spPr>
      </p:sp>
      <p:sp>
        <p:nvSpPr>
          <p:cNvPr id="40" name="b-encoder">
            <a:extLst xmlns:a="http://schemas.openxmlformats.org/drawingml/2006/main">
              <a:ext uri="{FF2B5EF4-FFF2-40B4-BE49-F238E27FC236}">
                <a16:creationId xmlns:a16="http://schemas.microsoft.com/office/drawing/2014/main" id="{D8C0E2DD-0BEC-4346-B855-2265F91A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52650"/>
            <a:ext cx="1428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0EA"/>
          </a:solidFill>
          <a:ln xmlns:a="http://schemas.openxmlformats.org/drawingml/2006/main" w="9525">
            <a:solidFill>
              <a:srgbClr val="704C2B"/>
            </a:solidFill>
            <a:prstDash val="solid"/>
          </a:ln>
        </p:spPr>
      </p:sp>
      <p:sp>
        <p:nvSpPr>
          <p:cNvPr id="41" name="b-encoder-head">
            <a:extLst xmlns:a="http://schemas.openxmlformats.org/drawingml/2006/main">
              <a:ext uri="{FF2B5EF4-FFF2-40B4-BE49-F238E27FC236}">
                <a16:creationId xmlns:a16="http://schemas.microsoft.com/office/drawing/2014/main" id="{E7342E70-A467-48AA-8EDD-96C40D0C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Frozen retinal quality</a:t>
            </a:r>
            <a:endParaRPr sz="12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encoder</a:t>
            </a:r>
            <a:endParaRPr sz="12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b-encoder-copy">
            <a:extLst xmlns:a="http://schemas.openxmlformats.org/drawingml/2006/main">
              <a:ext uri="{FF2B5EF4-FFF2-40B4-BE49-F238E27FC236}">
                <a16:creationId xmlns:a16="http://schemas.microsoft.com/office/drawing/2014/main" id="{A229AAD0-15E6-4B09-AF28-90ED83CA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4607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RetinaRadar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EfficientNet-B0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b-to-projection">
            <a:extLst xmlns:a="http://schemas.openxmlformats.org/drawingml/2006/main">
              <a:ext uri="{FF2B5EF4-FFF2-40B4-BE49-F238E27FC236}">
                <a16:creationId xmlns:a16="http://schemas.microsoft.com/office/drawing/2014/main" id="{E5C24544-6CED-4BAE-ADF9-AB5CDBC4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8A32"/>
          </a:solidFill>
          <a:ln xmlns:a="http://schemas.openxmlformats.org/drawingml/2006/main" w="0">
            <a:solidFill>
              <a:srgbClr val="C68A32"/>
            </a:solidFill>
            <a:prstDash val="solid"/>
          </a:ln>
        </p:spPr>
      </p:sp>
      <p:sp>
        <p:nvSpPr>
          <p:cNvPr id="44" name="b-projection">
            <a:extLst xmlns:a="http://schemas.openxmlformats.org/drawingml/2006/main">
              <a:ext uri="{FF2B5EF4-FFF2-40B4-BE49-F238E27FC236}">
                <a16:creationId xmlns:a16="http://schemas.microsoft.com/office/drawing/2014/main" id="{FE79C016-5AA8-46E7-A6D2-448865D7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52650"/>
            <a:ext cx="123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7CD"/>
          </a:solidFill>
          <a:ln xmlns:a="http://schemas.openxmlformats.org/drawingml/2006/main" w="9525">
            <a:solidFill>
              <a:srgbClr val="C68A32"/>
            </a:solidFill>
            <a:prstDash val="solid"/>
          </a:ln>
        </p:spPr>
      </p:sp>
      <p:sp>
        <p:nvSpPr>
          <p:cNvPr id="45" name="b-projection-head">
            <a:extLst xmlns:a="http://schemas.openxmlformats.org/drawingml/2006/main">
              <a:ext uri="{FF2B5EF4-FFF2-40B4-BE49-F238E27FC236}">
                <a16:creationId xmlns:a16="http://schemas.microsoft.com/office/drawing/2014/main" id="{E7B1A43E-94D6-4FCC-AB09-6FD6C859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47900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Trainable projection</a:t>
            </a:r>
            <a:endParaRPr sz="1275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b-projection-copy">
            <a:extLst xmlns:a="http://schemas.openxmlformats.org/drawingml/2006/main">
              <a:ext uri="{FF2B5EF4-FFF2-40B4-BE49-F238E27FC236}">
                <a16:creationId xmlns:a16="http://schemas.microsoft.com/office/drawing/2014/main" id="{70531239-77B0-450D-AD58-F9964B55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320" y="2781300"/>
            <a:ext cx="114808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One 128-D token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165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per visible region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" name="b-down-attention">
            <a:extLst xmlns:a="http://schemas.openxmlformats.org/drawingml/2006/main">
              <a:ext uri="{FF2B5EF4-FFF2-40B4-BE49-F238E27FC236}">
                <a16:creationId xmlns:a16="http://schemas.microsoft.com/office/drawing/2014/main" id="{8B236DD2-911E-4A83-ACB5-34BFCFA7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20955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866B"/>
          </a:solidFill>
          <a:ln xmlns:a="http://schemas.openxmlformats.org/drawingml/2006/main" w="0">
            <a:solidFill>
              <a:srgbClr val="78866B"/>
            </a:solidFill>
            <a:prstDash val="solid"/>
          </a:ln>
        </p:spPr>
      </p:sp>
      <p:sp>
        <p:nvSpPr>
          <p:cNvPr id="48" name="b-attention">
            <a:extLst xmlns:a="http://schemas.openxmlformats.org/drawingml/2006/main">
              <a:ext uri="{FF2B5EF4-FFF2-40B4-BE49-F238E27FC236}">
                <a16:creationId xmlns:a16="http://schemas.microsoft.com/office/drawing/2014/main" id="{4765652B-FC0D-4859-A094-489A7210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29050"/>
            <a:ext cx="5448300" cy="165989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EDF1E8"/>
          </a:solidFill>
          <a:ln xmlns:a="http://schemas.openxmlformats.org/drawingml/2006/main" w="10954">
            <a:solidFill>
              <a:srgbClr val="78866B"/>
            </a:solidFill>
            <a:prstDash val="solid"/>
          </a:ln>
        </p:spPr>
      </p:sp>
      <p:sp>
        <p:nvSpPr>
          <p:cNvPr id="49" name="b-attention-title">
            <a:extLst xmlns:a="http://schemas.openxmlformats.org/drawingml/2006/main">
              <a:ext uri="{FF2B5EF4-FFF2-40B4-BE49-F238E27FC236}">
                <a16:creationId xmlns:a16="http://schemas.microsoft.com/office/drawing/2014/main" id="{16B679AF-0EDC-49A6-9836-DDF090FD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433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rPr>
              <a:t>Visibility-conditioned masked attention</a:t>
            </a:r>
            <a:endParaRPr sz="1600" b="1" i="0">
              <a:solidFill>
                <a:srgbClr val="78866B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46" name="图片 1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c91be7489481a">
            <a:extLst>
              <a:ext uri="{96DAC541-7B7A-43D3-8B79-37D633B846F1}">
                <asvg:svgBlip xmlns:asvg="http://schemas.microsoft.com/office/drawing/2016/SVG/main" r:embed="Rcd701ee5ef2e46a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8800" y="4214495"/>
            <a:ext cx="4191000" cy="927735"/>
          </a:xfrm>
          <a:prstGeom xmlns:a="http://schemas.openxmlformats.org/drawingml/2006/main" prst="rect">
            <a:avLst/>
          </a:prstGeom>
        </p:spPr>
      </p:pic>
      <p:sp>
        <p:nvSpPr>
          <p:cNvPr id="51" name="b-attention-note">
            <a:extLst xmlns:a="http://schemas.openxmlformats.org/drawingml/2006/main">
              <a:ext uri="{FF2B5EF4-FFF2-40B4-BE49-F238E27FC236}">
                <a16:creationId xmlns:a16="http://schemas.microsoft.com/office/drawing/2014/main" id="{37DBEDF6-DF33-408A-95C3-8BDCF7EC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530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0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mᵢ marks whether region i is visible; unavailable regions receive zero weight.</a:t>
            </a:r>
            <a:endParaRPr sz="1200" b="0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b-down-output">
            <a:extLst xmlns:a="http://schemas.openxmlformats.org/drawingml/2006/main">
              <a:ext uri="{FF2B5EF4-FFF2-40B4-BE49-F238E27FC236}">
                <a16:creationId xmlns:a16="http://schemas.microsoft.com/office/drawing/2014/main" id="{2FA6D3F1-A5E0-453E-B355-1286C7FD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721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866B"/>
          </a:solidFill>
          <a:ln xmlns:a="http://schemas.openxmlformats.org/drawingml/2006/main" w="0">
            <a:solidFill>
              <a:srgbClr val="7886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b-output">
            <a:extLst xmlns:a="http://schemas.openxmlformats.org/drawingml/2006/main">
              <a:ext uri="{FF2B5EF4-FFF2-40B4-BE49-F238E27FC236}">
                <a16:creationId xmlns:a16="http://schemas.microsoft.com/office/drawing/2014/main" id="{AC64105D-955B-4359-8202-DD9D6534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942330"/>
            <a:ext cx="54483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4F0EA"/>
          </a:solidFill>
          <a:ln xmlns:a="http://schemas.openxmlformats.org/drawingml/2006/main" w="10478">
            <a:solidFill>
              <a:srgbClr val="78866B"/>
            </a:solidFill>
            <a:prstDash val="solid"/>
          </a:ln>
        </p:spPr>
      </p:sp>
      <p:sp>
        <p:nvSpPr>
          <p:cNvPr id="54" name="b-output-title">
            <a:extLst xmlns:a="http://schemas.openxmlformats.org/drawingml/2006/main">
              <a:ext uri="{FF2B5EF4-FFF2-40B4-BE49-F238E27FC236}">
                <a16:creationId xmlns:a16="http://schemas.microsoft.com/office/drawing/2014/main" id="{A491AAFE-E78A-4C8D-95C8-9B80E882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86475"/>
            <a:ext cx="5029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Aggregate visible evidence → three-class DR prediction</a:t>
            </a:r>
            <a:endParaRPr sz="135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5" name="b-normal">
            <a:extLst xmlns:a="http://schemas.openxmlformats.org/drawingml/2006/main">
              <a:ext uri="{FF2B5EF4-FFF2-40B4-BE49-F238E27FC236}">
                <a16:creationId xmlns:a16="http://schemas.microsoft.com/office/drawing/2014/main" id="{666B3DE1-4BD4-4C83-AC44-0002BA53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165" y="6451600"/>
            <a:ext cx="1028700" cy="330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8A32"/>
            </a:solidFill>
            <a:prstDash val="solid"/>
          </a:ln>
        </p:spPr>
      </p:sp>
      <p:sp>
        <p:nvSpPr>
          <p:cNvPr id="56" name="b-npdr">
            <a:extLst xmlns:a="http://schemas.openxmlformats.org/drawingml/2006/main">
              <a:ext uri="{FF2B5EF4-FFF2-40B4-BE49-F238E27FC236}">
                <a16:creationId xmlns:a16="http://schemas.microsoft.com/office/drawing/2014/main" id="{EEB460A1-815E-48C1-9EC8-0D85B43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57950"/>
            <a:ext cx="1028700" cy="3238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8866B"/>
            </a:solidFill>
            <a:prstDash val="solid"/>
          </a:ln>
        </p:spPr>
      </p:sp>
      <p:sp>
        <p:nvSpPr>
          <p:cNvPr id="57" name="b-pdr">
            <a:extLst xmlns:a="http://schemas.openxmlformats.org/drawingml/2006/main">
              <a:ext uri="{FF2B5EF4-FFF2-40B4-BE49-F238E27FC236}">
                <a16:creationId xmlns:a16="http://schemas.microsoft.com/office/drawing/2014/main" id="{A3BED5D0-C4E1-4E0B-883B-BE9563A7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990" y="6457950"/>
            <a:ext cx="1028700" cy="3238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4067"/>
            </a:solidFill>
            <a:prstDash val="solid"/>
          </a:ln>
        </p:spPr>
      </p:sp>
      <p:sp>
        <p:nvSpPr>
          <p:cNvPr id="58" name="b-normal-text">
            <a:extLst xmlns:a="http://schemas.openxmlformats.org/drawingml/2006/main">
              <a:ext uri="{FF2B5EF4-FFF2-40B4-BE49-F238E27FC236}">
                <a16:creationId xmlns:a16="http://schemas.microsoft.com/office/drawing/2014/main" id="{6B2165D0-AA16-4E8D-A629-025E6FAD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165" y="65182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Normal</a:t>
            </a:r>
            <a:endParaRPr sz="1165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" name="b-npdr-text">
            <a:extLst xmlns:a="http://schemas.openxmlformats.org/drawingml/2006/main">
              <a:ext uri="{FF2B5EF4-FFF2-40B4-BE49-F238E27FC236}">
                <a16:creationId xmlns:a16="http://schemas.microsoft.com/office/drawing/2014/main" id="{D83F68A0-A78F-46A2-93EF-E71381FB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52526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rPr>
              <a:t>NPDR</a:t>
            </a:r>
            <a:endParaRPr sz="1165" b="1" i="0">
              <a:solidFill>
                <a:srgbClr val="78866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b-pdr-text">
            <a:extLst xmlns:a="http://schemas.openxmlformats.org/drawingml/2006/main">
              <a:ext uri="{FF2B5EF4-FFF2-40B4-BE49-F238E27FC236}">
                <a16:creationId xmlns:a16="http://schemas.microsoft.com/office/drawing/2014/main" id="{82A668D6-5C90-4C8D-A582-5A3029A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990" y="652526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PDR</a:t>
            </a:r>
            <a:endParaRPr sz="1165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header-C-badge">
            <a:extLst xmlns:a="http://schemas.openxmlformats.org/drawingml/2006/main">
              <a:ext uri="{FF2B5EF4-FFF2-40B4-BE49-F238E27FC236}">
                <a16:creationId xmlns:a16="http://schemas.microsoft.com/office/drawing/2014/main" id="{1A7FC0A3-D596-4661-B549-8F1FF53C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314450"/>
            <a:ext cx="381000" cy="2667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B84067"/>
          </a:solidFill>
          <a:ln xmlns:a="http://schemas.openxmlformats.org/drawingml/2006/main" w="0">
            <a:solidFill>
              <a:srgbClr val="B84067"/>
            </a:solidFill>
            <a:prstDash val="solid"/>
          </a:ln>
        </p:spPr>
      </p:sp>
      <p:sp>
        <p:nvSpPr>
          <p:cNvPr id="62" name="header-C-letter">
            <a:extLst xmlns:a="http://schemas.openxmlformats.org/drawingml/2006/main">
              <a:ext uri="{FF2B5EF4-FFF2-40B4-BE49-F238E27FC236}">
                <a16:creationId xmlns:a16="http://schemas.microsoft.com/office/drawing/2014/main" id="{6A43E622-439B-4A0B-B45F-5B5BDF6E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323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sz="1165" b="1" i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3" name="header-C-title">
            <a:extLst xmlns:a="http://schemas.openxmlformats.org/drawingml/2006/main">
              <a:ext uri="{FF2B5EF4-FFF2-40B4-BE49-F238E27FC236}">
                <a16:creationId xmlns:a16="http://schemas.microsoft.com/office/drawing/2014/main" id="{B553BD8E-39A5-425A-AE65-371E2CBC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304925"/>
            <a:ext cx="3067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Downstream paired-view audit</a:t>
            </a:r>
            <a:endParaRPr sz="1600" b="1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4" name="header-C-rule">
            <a:extLst xmlns:a="http://schemas.openxmlformats.org/drawingml/2006/main">
              <a:ext uri="{FF2B5EF4-FFF2-40B4-BE49-F238E27FC236}">
                <a16:creationId xmlns:a16="http://schemas.microsoft.com/office/drawing/2014/main" id="{909141A9-8046-46A5-80E9-A906F2BC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685925"/>
            <a:ext cx="358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67"/>
          </a:solidFill>
          <a:ln xmlns:a="http://schemas.openxmlformats.org/drawingml/2006/main" w="0">
            <a:solidFill>
              <a:srgbClr val="B84067"/>
            </a:solidFill>
            <a:prstDash val="solid"/>
          </a:ln>
        </p:spPr>
      </p:sp>
      <p:sp>
        <p:nvSpPr>
          <p:cNvPr id="65" name="c-intro">
            <a:extLst xmlns:a="http://schemas.openxmlformats.org/drawingml/2006/main">
              <a:ext uri="{FF2B5EF4-FFF2-40B4-BE49-F238E27FC236}">
                <a16:creationId xmlns:a16="http://schemas.microsoft.com/office/drawing/2014/main" id="{D7F7AAEA-89B3-4EF9-BBF9-442E4B02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5260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One severity model; two visibility masks</a:t>
            </a:r>
            <a:endParaRPr sz="14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" name="c-full">
            <a:extLst xmlns:a="http://schemas.openxmlformats.org/drawingml/2006/main">
              <a:ext uri="{FF2B5EF4-FFF2-40B4-BE49-F238E27FC236}">
                <a16:creationId xmlns:a16="http://schemas.microsoft.com/office/drawing/2014/main" id="{F31E55B4-B921-4253-A977-98A99B4B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90750"/>
            <a:ext cx="1428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E7CD"/>
          </a:solidFill>
          <a:ln xmlns:a="http://schemas.openxmlformats.org/drawingml/2006/main" w="9525">
            <a:solidFill>
              <a:srgbClr val="C68A32"/>
            </a:solidFill>
            <a:prstDash val="solid"/>
          </a:ln>
        </p:spPr>
      </p:sp>
      <p:sp>
        <p:nvSpPr>
          <p:cNvPr id="67" name="c-full-image-edge">
            <a:extLst xmlns:a="http://schemas.openxmlformats.org/drawingml/2006/main">
              <a:ext uri="{FF2B5EF4-FFF2-40B4-BE49-F238E27FC236}">
                <a16:creationId xmlns:a16="http://schemas.microsoft.com/office/drawing/2014/main" id="{3785B4D9-E605-43E3-9ECD-CA9A7096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286000"/>
            <a:ext cx="723900" cy="7239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C68A32"/>
            </a:solidFill>
            <a:prstDash val="solid"/>
          </a:ln>
        </p:spPr>
      </p:sp>
      <p:pic>
        <p:nvPicPr>
          <p:cNvPr id="164" name="图片 1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4490153654b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87175" y="23050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69" name="c-full-text">
            <a:extLst xmlns:a="http://schemas.openxmlformats.org/drawingml/2006/main">
              <a:ext uri="{FF2B5EF4-FFF2-40B4-BE49-F238E27FC236}">
                <a16:creationId xmlns:a16="http://schemas.microsoft.com/office/drawing/2014/main" id="{3FCE8AAD-366D-46DA-AAA3-CC31B34D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0765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4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Full-view</a:t>
            </a:r>
            <a:endParaRPr sz="12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14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prediction p_F</a:t>
            </a:r>
            <a:endParaRPr sz="12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0" name="c-limited">
            <a:extLst xmlns:a="http://schemas.openxmlformats.org/drawingml/2006/main">
              <a:ext uri="{FF2B5EF4-FFF2-40B4-BE49-F238E27FC236}">
                <a16:creationId xmlns:a16="http://schemas.microsoft.com/office/drawing/2014/main" id="{62A4E832-6AD3-418B-9F41-D41C1266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190750"/>
            <a:ext cx="1428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9EDF1"/>
          </a:solidFill>
          <a:ln xmlns:a="http://schemas.openxmlformats.org/drawingml/2006/main" w="9525">
            <a:solidFill>
              <a:srgbClr val="B84067"/>
            </a:solidFill>
            <a:prstDash val="solid"/>
          </a:ln>
        </p:spPr>
      </p:sp>
      <p:sp>
        <p:nvSpPr>
          <p:cNvPr id="71" name="c-limited-image-edge">
            <a:extLst xmlns:a="http://schemas.openxmlformats.org/drawingml/2006/main">
              <a:ext uri="{FF2B5EF4-FFF2-40B4-BE49-F238E27FC236}">
                <a16:creationId xmlns:a16="http://schemas.microsoft.com/office/drawing/2014/main" id="{72B8E50A-3041-4150-985C-78377525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2286000"/>
            <a:ext cx="723900" cy="7239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B84067"/>
            </a:solidFill>
            <a:prstDash val="solid"/>
          </a:ln>
        </p:spPr>
      </p:sp>
      <p:pic>
        <p:nvPicPr>
          <p:cNvPr id="168" name="图片 1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c2691cf92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11225" y="23050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73" name="c-limited-text">
            <a:extLst xmlns:a="http://schemas.openxmlformats.org/drawingml/2006/main">
              <a:ext uri="{FF2B5EF4-FFF2-40B4-BE49-F238E27FC236}">
                <a16:creationId xmlns:a16="http://schemas.microsoft.com/office/drawing/2014/main" id="{61A9220C-5244-4C07-B16A-BD2E5DE0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0765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4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Center-plus-cross</a:t>
            </a:r>
            <a:endParaRPr sz="1200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14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prediction p_L</a:t>
            </a:r>
            <a:endParaRPr sz="1200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4" name="c-down-compare">
            <a:extLst xmlns:a="http://schemas.openxmlformats.org/drawingml/2006/main">
              <a:ext uri="{FF2B5EF4-FFF2-40B4-BE49-F238E27FC236}">
                <a16:creationId xmlns:a16="http://schemas.microsoft.com/office/drawing/2014/main" id="{D624E741-F1BD-42A7-8611-2CA30D52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686175"/>
            <a:ext cx="2286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4067"/>
          </a:solidFill>
          <a:ln xmlns:a="http://schemas.openxmlformats.org/drawingml/2006/main" w="0">
            <a:solidFill>
              <a:srgbClr val="B84067"/>
            </a:solidFill>
            <a:prstDash val="solid"/>
          </a:ln>
        </p:spPr>
      </p:sp>
      <p:sp>
        <p:nvSpPr>
          <p:cNvPr id="75" name="c-compare">
            <a:extLst xmlns:a="http://schemas.openxmlformats.org/drawingml/2006/main">
              <a:ext uri="{FF2B5EF4-FFF2-40B4-BE49-F238E27FC236}">
                <a16:creationId xmlns:a16="http://schemas.microsoft.com/office/drawing/2014/main" id="{B812F8DE-1237-479C-9361-E2E27A58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76700"/>
            <a:ext cx="3352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DF1"/>
          </a:solidFill>
          <a:ln xmlns:a="http://schemas.openxmlformats.org/drawingml/2006/main" w="10478">
            <a:solidFill>
              <a:srgbClr val="B84067"/>
            </a:solidFill>
            <a:prstDash val="solid"/>
          </a:ln>
        </p:spPr>
      </p:sp>
      <p:sp>
        <p:nvSpPr>
          <p:cNvPr id="76" name="c-compare-title">
            <a:extLst xmlns:a="http://schemas.openxmlformats.org/drawingml/2006/main">
              <a:ext uri="{FF2B5EF4-FFF2-40B4-BE49-F238E27FC236}">
                <a16:creationId xmlns:a16="http://schemas.microsoft.com/office/drawing/2014/main" id="{FC38A589-D185-4CF8-ADF5-97377BEE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1910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Compare p_F and p_L</a:t>
            </a:r>
            <a:endParaRPr sz="1400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7" name="c-compare-copy">
            <a:extLst xmlns:a="http://schemas.openxmlformats.org/drawingml/2006/main">
              <a:ext uri="{FF2B5EF4-FFF2-40B4-BE49-F238E27FC236}">
                <a16:creationId xmlns:a16="http://schemas.microsoft.com/office/drawing/2014/main" id="{7AC0F6EB-C02A-49AF-A911-C1EA6101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4958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Probability, severity, and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entropy differences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8" name="c-down-risk">
            <a:extLst xmlns:a="http://schemas.openxmlformats.org/drawingml/2006/main">
              <a:ext uri="{FF2B5EF4-FFF2-40B4-BE49-F238E27FC236}">
                <a16:creationId xmlns:a16="http://schemas.microsoft.com/office/drawing/2014/main" id="{4BF4C9A3-A305-451F-845C-B632AD04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5143500"/>
            <a:ext cx="2286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4067"/>
          </a:solidFill>
          <a:ln xmlns:a="http://schemas.openxmlformats.org/drawingml/2006/main" w="0">
            <a:solidFill>
              <a:srgbClr val="B84067"/>
            </a:solidFill>
            <a:prstDash val="solid"/>
          </a:ln>
        </p:spPr>
      </p:sp>
      <p:sp>
        <p:nvSpPr>
          <p:cNvPr id="79" name="c-risk">
            <a:extLst xmlns:a="http://schemas.openxmlformats.org/drawingml/2006/main">
              <a:ext uri="{FF2B5EF4-FFF2-40B4-BE49-F238E27FC236}">
                <a16:creationId xmlns:a16="http://schemas.microsoft.com/office/drawing/2014/main" id="{C23EA7B7-F051-4C4C-8F73-3AF1D32B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524500"/>
            <a:ext cx="33528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4067"/>
            </a:solidFill>
            <a:prstDash val="solid"/>
          </a:ln>
        </p:spPr>
      </p:sp>
      <p:sp>
        <p:nvSpPr>
          <p:cNvPr id="80" name="c-risk-title">
            <a:extLst xmlns:a="http://schemas.openxmlformats.org/drawingml/2006/main">
              <a:ext uri="{FF2B5EF4-FFF2-40B4-BE49-F238E27FC236}">
                <a16:creationId xmlns:a16="http://schemas.microsoft.com/office/drawing/2014/main" id="{6BBDD8A2-09A5-4FD0-9F00-01E7FBD8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638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Rank limited-view underestimation risk</a:t>
            </a:r>
            <a:endParaRPr sz="1400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1" name="c-risk-note">
            <a:extLst xmlns:a="http://schemas.openxmlformats.org/drawingml/2006/main">
              <a:ext uri="{FF2B5EF4-FFF2-40B4-BE49-F238E27FC236}">
                <a16:creationId xmlns:a16="http://schemas.microsoft.com/office/drawing/2014/main" id="{70DC29BC-D19C-4F9D-88C1-8F0CE77A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8674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0" i="1">
                <a:solidFill>
                  <a:srgbClr val="6F62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6F6259"/>
                </a:solidFill>
                <a:latin typeface="Times New Roman"/>
                <a:ea typeface="Times New Roman"/>
                <a:cs typeface="Times New Roman"/>
              </a:rPr>
              <a:t>Exploratory paired-view audit</a:t>
            </a:r>
            <a:endParaRPr sz="1200" b="0" i="1">
              <a:solidFill>
                <a:srgbClr val="6F6259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2" name="c-boundary">
            <a:extLst xmlns:a="http://schemas.openxmlformats.org/drawingml/2006/main">
              <a:ext uri="{FF2B5EF4-FFF2-40B4-BE49-F238E27FC236}">
                <a16:creationId xmlns:a16="http://schemas.microsoft.com/office/drawing/2014/main" id="{D11DAE21-8176-443A-AEB5-771BE235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35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0EA"/>
          </a:solidFill>
          <a:ln xmlns:a="http://schemas.openxmlformats.org/drawingml/2006/main" w="9525">
            <a:solidFill>
              <a:srgbClr val="965E4A"/>
            </a:solidFill>
            <a:prstDash val="solid"/>
          </a:ln>
        </p:spPr>
      </p:sp>
      <p:sp>
        <p:nvSpPr>
          <p:cNvPr id="83" name="c-boundary-copy">
            <a:extLst xmlns:a="http://schemas.openxmlformats.org/drawingml/2006/main">
              <a:ext uri="{FF2B5EF4-FFF2-40B4-BE49-F238E27FC236}">
                <a16:creationId xmlns:a16="http://schemas.microsoft.com/office/drawing/2014/main" id="{4970FDD2-9CEA-4BE7-82E0-D4CFDBBE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67475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 i="0">
                <a:solidFill>
                  <a:srgbClr val="965E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965E4A"/>
                </a:solidFill>
                <a:latin typeface="Times New Roman"/>
                <a:ea typeface="Times New Roman"/>
                <a:cs typeface="Times New Roman"/>
              </a:rPr>
              <a:t>Requires both predictions; not a single-image triage rule.</a:t>
            </a:r>
            <a:endParaRPr sz="1200" b="1" i="0">
              <a:solidFill>
                <a:srgbClr val="965E4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DD261F94-B9F3-494E-9A60-6B5C9238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62800"/>
            <a:ext cx="14325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solidFill>
              <a:srgbClr val="D8CABB"/>
            </a:solidFill>
            <a:prstDash val="solid"/>
          </a:ln>
        </p:spPr>
      </p:sp>
      <p:sp>
        <p:nvSpPr>
          <p:cNvPr id="85" name="takeaway-frame">
            <a:extLst xmlns:a="http://schemas.openxmlformats.org/drawingml/2006/main">
              <a:ext uri="{FF2B5EF4-FFF2-40B4-BE49-F238E27FC236}">
                <a16:creationId xmlns:a16="http://schemas.microsoft.com/office/drawing/2014/main" id="{353BFB8C-36F3-462A-93A3-178EE1F5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3256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4F0EA"/>
          </a:solidFill>
          <a:ln xmlns:a="http://schemas.openxmlformats.org/drawingml/2006/main" w="9525">
            <a:solidFill>
              <a:srgbClr val="C68A32"/>
            </a:solidFill>
            <a:prstDash val="solid"/>
          </a:ln>
        </p:spPr>
      </p:sp>
      <p:sp>
        <p:nvSpPr>
          <p:cNvPr id="86" name="takeaway">
            <a:extLst xmlns:a="http://schemas.openxmlformats.org/drawingml/2006/main">
              <a:ext uri="{FF2B5EF4-FFF2-40B4-BE49-F238E27FC236}">
                <a16:creationId xmlns:a16="http://schemas.microsoft.com/office/drawing/2014/main" id="{094700EA-76E1-430D-94C6-18664660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62850"/>
            <a:ext cx="1386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Core mechanism: visibility explicitly controls model-specific retinal evidence availability; paired risk is assessed only after comparing two severity predictions.</a:t>
            </a:r>
            <a:endParaRPr sz="1425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0822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2026-08-21T02:04:12.5740000Z</dcterms:created>
  <dcterms:modified xsi:type="dcterms:W3CDTF">2026-08-21T02:04:12.5740000Z</dcterms:modified>
</coreProperties>
</file>