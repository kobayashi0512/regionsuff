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eaaecc77c418e" /><Relationship Type="http://schemas.openxmlformats.org/officeDocument/2006/relationships/extended-properties" Target="/docProps/app.xml" Id="Rf49d23c057f74571" /><Relationship Type="http://schemas.openxmlformats.org/officeDocument/2006/relationships/officeDocument" Target="/ppt/presentation.xml" Id="R018eefdf9863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28d8e38a34884"/>
  </p:sldMasterIdLst>
  <p:notesMasterIdLst>
    <p:notesMasterId xmlns:r="http://schemas.openxmlformats.org/officeDocument/2006/relationships" r:id="Rbc36dfa30e0248e8"/>
  </p:notesMasterIdLst>
  <p:sldIdLst>
    <p:sldId xmlns:r="http://schemas.openxmlformats.org/officeDocument/2006/relationships" id="256" r:id="R7e04eb48ef624f6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2e999caaa4616" /><Relationship Type="http://schemas.openxmlformats.org/officeDocument/2006/relationships/slideMaster" Target="/ppt/slideMasters/slideMaster1.xml" Id="Rfe528d8e38a34884" /><Relationship Type="http://schemas.openxmlformats.org/officeDocument/2006/relationships/notesMaster" Target="/ppt/notesMasters/notesMaster1.xml" Id="Rbc36dfa30e0248e8" /><Relationship Type="http://schemas.openxmlformats.org/officeDocument/2006/relationships/presProps" Target="/ppt/presProps.xml" Id="Rc41ef183158f4749" /><Relationship Type="http://schemas.openxmlformats.org/officeDocument/2006/relationships/viewProps" Target="/ppt/viewProps.xml" Id="Rfc6a5634178c4f3e" /><Relationship Type="http://schemas.openxmlformats.org/officeDocument/2006/relationships/tableStyles" Target="/ppt/tableStyles.xml" Id="R4a9c0b6dcd084157" /><Relationship Type="http://schemas.openxmlformats.org/officeDocument/2006/relationships/slide" Target="/ppt/slides/slide1.xml" Id="R7e04eb48ef62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6c44698ad4b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67b4f6456b4bae" /><Relationship Type="http://schemas.openxmlformats.org/officeDocument/2006/relationships/notesMaster" Target="/ppt/notesMasters/notesMaster1.xml" Id="R5e7860998d5a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Figure 1 study overview.</a:t>
            </a:r>
          </a:p>
          <a:p xmlns:a="http://schemas.openxmlformats.org/drawingml/2006/main">
            <a:r>
              <a:t>- Diagnostic sufficiency is the clinical motivation. Model-specific retinal evidence availability is the operational construct examined here. Figure 1 intentionally contains no mathematical equations: it states the study question, controlled restrictions, model role, and validation chain. Figure 2 contains the single core masked-attention equation.</a:t>
            </a:r>
          </a:p>
          <a:p xmlns:a="http://schemas.openxmlformats.org/drawingml/2006/main">
            <a:r>
              <a:t>- Source image: one local de-identified UWF fundus image in the RegionSuff project assets.</a:t>
            </a:r>
          </a:p>
          <a:p xmlns:a="http://schemas.openxmlformats.org/drawingml/2006/main">
            <a:r>
              <a:t>- Method labels and cohort counts: RegionSuff_1.9.docx, Methods Sections 2.3–2.8.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de90469f348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47aed0c36403b" /><Relationship Type="http://schemas.openxmlformats.org/officeDocument/2006/relationships/slideLayout" Target="/ppt/slideLayouts/slideLayout1.xml" Id="R2bd53476be434d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53476be43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b67a339c24751" /><Relationship Type="http://schemas.openxmlformats.org/officeDocument/2006/relationships/image" Target="/ppt/media/image.png" Id="Ra2ddfe5e9a4d42b8" /><Relationship Type="http://schemas.openxmlformats.org/officeDocument/2006/relationships/image" Target="/ppt/media/image2.png" Id="R96b279fa3a674506" /><Relationship Type="http://schemas.openxmlformats.org/officeDocument/2006/relationships/image" Target="/ppt/media/image3.png" Id="R5a34b0408ae24193" /><Relationship Type="http://schemas.openxmlformats.org/officeDocument/2006/relationships/image" Target="/ppt/media/image4.png" Id="Rdfa50d0966db42ea" /><Relationship Type="http://schemas.openxmlformats.org/officeDocument/2006/relationships/image" Target="/ppt/media/image5.png" Id="R14f4feb831ec4b04" /><Relationship Type="http://schemas.openxmlformats.org/officeDocument/2006/relationships/image" Target="/ppt/media/image6.png" Id="Rf092d8b188f04de5" /><Relationship Type="http://schemas.openxmlformats.org/officeDocument/2006/relationships/notesSlide" Target="/ppt/notesSlides/notesSlide1.xml" Id="R3cae4c8df93f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a-to-b">
            <a:extLst xmlns:a="http://schemas.openxmlformats.org/drawingml/2006/main">
              <a:ext uri="{FF2B5EF4-FFF2-40B4-BE49-F238E27FC236}">
                <a16:creationId xmlns:a16="http://schemas.microsoft.com/office/drawing/2014/main" id="{E2C00CBD-C9E6-4EF7-8A0D-F33831C2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C2B"/>
          </a:solidFill>
          <a:ln xmlns:a="http://schemas.openxmlformats.org/drawingml/2006/main" w="0">
            <a:solidFill>
              <a:srgbClr val="704C2B"/>
            </a:solidFill>
            <a:prstDash val="solid"/>
          </a:ln>
        </p:spPr>
      </p:sp>
      <p:sp>
        <p:nvSpPr>
          <p:cNvPr id="2" name="b-to-c">
            <a:extLst xmlns:a="http://schemas.openxmlformats.org/drawingml/2006/main">
              <a:ext uri="{FF2B5EF4-FFF2-40B4-BE49-F238E27FC236}">
                <a16:creationId xmlns:a16="http://schemas.microsoft.com/office/drawing/2014/main" id="{041B21C2-6053-49E9-ABC9-FC1FD171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C2B"/>
          </a:solidFill>
          <a:ln xmlns:a="http://schemas.openxmlformats.org/drawingml/2006/main" w="0">
            <a:solidFill>
              <a:srgbClr val="704C2B"/>
            </a:solidFill>
            <a:prstDash val="solid"/>
          </a:ln>
        </p:spPr>
      </p:sp>
      <p:sp>
        <p:nvSpPr>
          <p:cNvPr id="3" name="c-to-d">
            <a:extLst xmlns:a="http://schemas.openxmlformats.org/drawingml/2006/main">
              <a:ext uri="{FF2B5EF4-FFF2-40B4-BE49-F238E27FC236}">
                <a16:creationId xmlns:a16="http://schemas.microsoft.com/office/drawing/2014/main" id="{21BCD592-76E8-42BC-B8D5-1B101E2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C2B"/>
          </a:solidFill>
          <a:ln xmlns:a="http://schemas.openxmlformats.org/drawingml/2006/main" w="0">
            <a:solidFill>
              <a:srgbClr val="704C2B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8A8084-72F6-47C1-943A-1A5AE3D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00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2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RegionSuff: auditing model-specific retinal evidence availability under limited fields of view</a:t>
            </a:r>
            <a:endParaRPr sz="225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igure-number">
            <a:extLst xmlns:a="http://schemas.openxmlformats.org/drawingml/2006/main">
              <a:ext uri="{FF2B5EF4-FFF2-40B4-BE49-F238E27FC236}">
                <a16:creationId xmlns:a16="http://schemas.microsoft.com/office/drawing/2014/main" id="{4560D6FD-1A12-4697-A05C-6B6519A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048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FIGURE 1</a:t>
            </a:r>
            <a:endParaRPr sz="1275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2DD4E48-1430-4728-B50B-68E0F05B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421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A clear acquisition may still omit task-relevant retinal evidence; RegionSuff makes model-specific retinal evidence availability explicit and testable.</a:t>
            </a:r>
            <a:endParaRPr sz="1400" b="0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412A16-01F4-47B5-A4DB-131F073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4325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8" name="header-A-badge">
            <a:extLst xmlns:a="http://schemas.openxmlformats.org/drawingml/2006/main">
              <a:ext uri="{FF2B5EF4-FFF2-40B4-BE49-F238E27FC236}">
                <a16:creationId xmlns:a16="http://schemas.microsoft.com/office/drawing/2014/main" id="{2DF0F0AA-75D9-4F4D-83F3-B58988B8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965E4A"/>
          </a:solidFill>
          <a:ln xmlns:a="http://schemas.openxmlformats.org/drawingml/2006/main" w="0">
            <a:solidFill>
              <a:srgbClr val="965E4A"/>
            </a:solidFill>
            <a:prstDash val="solid"/>
          </a:ln>
        </p:spPr>
      </p:sp>
      <p:sp>
        <p:nvSpPr>
          <p:cNvPr id="9" name="header-A-letter">
            <a:extLst xmlns:a="http://schemas.openxmlformats.org/drawingml/2006/main">
              <a:ext uri="{FF2B5EF4-FFF2-40B4-BE49-F238E27FC236}">
                <a16:creationId xmlns:a16="http://schemas.microsoft.com/office/drawing/2014/main" id="{ED8C3474-FEB4-4FCB-9DDE-9786719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header-A-title">
            <a:extLst xmlns:a="http://schemas.openxmlformats.org/drawingml/2006/main">
              <a:ext uri="{FF2B5EF4-FFF2-40B4-BE49-F238E27FC236}">
                <a16:creationId xmlns:a16="http://schemas.microsoft.com/office/drawing/2014/main" id="{716F4F00-4736-4E7C-9C38-B1A5F29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04925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Quality is not evidence</a:t>
            </a:r>
            <a:endParaRPr sz="165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header-A-rule">
            <a:extLst xmlns:a="http://schemas.openxmlformats.org/drawingml/2006/main">
              <a:ext uri="{FF2B5EF4-FFF2-40B4-BE49-F238E27FC236}">
                <a16:creationId xmlns:a16="http://schemas.microsoft.com/office/drawing/2014/main" id="{08AF8FE6-C049-42D2-825E-1190303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04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5E4A"/>
          </a:solidFill>
          <a:ln xmlns:a="http://schemas.openxmlformats.org/drawingml/2006/main" w="0">
            <a:solidFill>
              <a:srgbClr val="965E4A"/>
            </a:solidFill>
            <a:prstDash val="solid"/>
          </a:ln>
        </p:spPr>
      </p:sp>
      <p:sp>
        <p:nvSpPr>
          <p:cNvPr id="12" name="a-caption">
            <a:extLst xmlns:a="http://schemas.openxmlformats.org/drawingml/2006/main">
              <a:ext uri="{FF2B5EF4-FFF2-40B4-BE49-F238E27FC236}">
                <a16:creationId xmlns:a16="http://schemas.microsoft.com/office/drawing/2014/main" id="{C4DA771F-DE79-46B0-AFD3-096D2C7E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Same source image; different visible retinal evidence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a-full-edge">
            <a:extLst xmlns:a="http://schemas.openxmlformats.org/drawingml/2006/main">
              <a:ext uri="{FF2B5EF4-FFF2-40B4-BE49-F238E27FC236}">
                <a16:creationId xmlns:a16="http://schemas.microsoft.com/office/drawing/2014/main" id="{43F52334-663D-4972-9B34-E7EA210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1181100" cy="11811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965E4A"/>
            </a:solidFill>
            <a:prstDash val="solid"/>
          </a:ln>
        </p:spPr>
      </p:sp>
      <p:pic>
        <p:nvPicPr>
          <p:cNvPr id="123" name="图片 1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dfe5e9a4d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a-center-edge">
            <a:extLst xmlns:a="http://schemas.openxmlformats.org/drawingml/2006/main">
              <a:ext uri="{FF2B5EF4-FFF2-40B4-BE49-F238E27FC236}">
                <a16:creationId xmlns:a16="http://schemas.microsoft.com/office/drawing/2014/main" id="{6853CF4C-F5E9-4833-9787-EF486F87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57400"/>
            <a:ext cx="1181100" cy="11811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B84067"/>
            </a:solidFill>
            <a:prstDash val="solid"/>
          </a:ln>
        </p:spPr>
      </p:sp>
      <p:pic>
        <p:nvPicPr>
          <p:cNvPr id="125" name="图片 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279fa3a67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0" y="20764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7" name="a-full-label">
            <a:extLst xmlns:a="http://schemas.openxmlformats.org/drawingml/2006/main">
              <a:ext uri="{FF2B5EF4-FFF2-40B4-BE49-F238E27FC236}">
                <a16:creationId xmlns:a16="http://schemas.microsoft.com/office/drawing/2014/main" id="{3542C7F8-6778-433C-ABAE-5F50790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Full-view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a-center-label">
            <a:extLst xmlns:a="http://schemas.openxmlformats.org/drawingml/2006/main">
              <a:ext uri="{FF2B5EF4-FFF2-40B4-BE49-F238E27FC236}">
                <a16:creationId xmlns:a16="http://schemas.microsoft.com/office/drawing/2014/main" id="{6BE6C8B4-4C35-4F81-9DFF-77AD98F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67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Center-only view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a-statement">
            <a:extLst xmlns:a="http://schemas.openxmlformats.org/drawingml/2006/main">
              <a:ext uri="{FF2B5EF4-FFF2-40B4-BE49-F238E27FC236}">
                <a16:creationId xmlns:a16="http://schemas.microsoft.com/office/drawing/2014/main" id="{AE720CD6-C7C1-4C39-99EA-C73C2A54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20" name="a-statement-head">
            <a:extLst xmlns:a="http://schemas.openxmlformats.org/drawingml/2006/main">
              <a:ext uri="{FF2B5EF4-FFF2-40B4-BE49-F238E27FC236}">
                <a16:creationId xmlns:a16="http://schemas.microsoft.com/office/drawing/2014/main" id="{95F58276-CE40-4403-AE19-65059AD4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" y="3943350"/>
            <a:ext cx="276288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Clear retina ≠ evidence availability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a-statement-copy">
            <a:extLst xmlns:a="http://schemas.openxmlformats.org/drawingml/2006/main">
              <a:ext uri="{FF2B5EF4-FFF2-40B4-BE49-F238E27FC236}">
                <a16:creationId xmlns:a16="http://schemas.microsoft.com/office/drawing/2014/main" id="{B8786BC1-1E5F-4A7D-81EF-40ECCAF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95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A clear acquisition can still omit retinal evidence needed by the fixed DR model.</a:t>
            </a:r>
            <a:endParaRPr sz="1165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a-question">
            <a:extLst xmlns:a="http://schemas.openxmlformats.org/drawingml/2006/main">
              <a:ext uri="{FF2B5EF4-FFF2-40B4-BE49-F238E27FC236}">
                <a16:creationId xmlns:a16="http://schemas.microsoft.com/office/drawing/2014/main" id="{41514811-48DD-4DCF-822F-BEB2E14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965E4A"/>
            </a:solidFill>
            <a:prstDash val="solid"/>
          </a:ln>
        </p:spPr>
      </p:sp>
      <p:sp>
        <p:nvSpPr>
          <p:cNvPr id="23" name="a-question-head">
            <a:extLst xmlns:a="http://schemas.openxmlformats.org/drawingml/2006/main">
              <a:ext uri="{FF2B5EF4-FFF2-40B4-BE49-F238E27FC236}">
                <a16:creationId xmlns:a16="http://schemas.microsoft.com/office/drawing/2014/main" id="{38BDAD51-F766-4852-BBA4-6CC0A00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457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Audit question</a:t>
            </a:r>
            <a:endParaRPr sz="1400" b="1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a-question-copy">
            <a:extLst xmlns:a="http://schemas.openxmlformats.org/drawingml/2006/main">
              <a:ext uri="{FF2B5EF4-FFF2-40B4-BE49-F238E27FC236}">
                <a16:creationId xmlns:a16="http://schemas.microsoft.com/office/drawing/2014/main" id="{770F24EC-7A68-4234-BA55-EFB950E9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7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How does a fixed DR model behave as model-specific retinal evidence availability is restricted?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header-B-badge">
            <a:extLst xmlns:a="http://schemas.openxmlformats.org/drawingml/2006/main">
              <a:ext uri="{FF2B5EF4-FFF2-40B4-BE49-F238E27FC236}">
                <a16:creationId xmlns:a16="http://schemas.microsoft.com/office/drawing/2014/main" id="{47F58BAC-ADD0-4D3E-BFC3-A26B957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C68A32"/>
          </a:solidFill>
          <a:ln xmlns:a="http://schemas.openxmlformats.org/drawingml/2006/main" w="0">
            <a:solidFill>
              <a:srgbClr val="C68A32"/>
            </a:solidFill>
            <a:prstDash val="solid"/>
          </a:ln>
        </p:spPr>
      </p:sp>
      <p:sp>
        <p:nvSpPr>
          <p:cNvPr id="26" name="header-B-letter">
            <a:extLst xmlns:a="http://schemas.openxmlformats.org/drawingml/2006/main">
              <a:ext uri="{FF2B5EF4-FFF2-40B4-BE49-F238E27FC236}">
                <a16:creationId xmlns:a16="http://schemas.microsoft.com/office/drawing/2014/main" id="{F2A47451-234E-4C07-8003-2FFC5C3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header-B-title">
            <a:extLst xmlns:a="http://schemas.openxmlformats.org/drawingml/2006/main">
              <a:ext uri="{FF2B5EF4-FFF2-40B4-BE49-F238E27FC236}">
                <a16:creationId xmlns:a16="http://schemas.microsoft.com/office/drawing/2014/main" id="{8E756CF8-359D-425A-B0F6-F20C264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049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Controlled masks</a:t>
            </a:r>
            <a:endParaRPr sz="165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header-B-rule">
            <a:extLst xmlns:a="http://schemas.openxmlformats.org/drawingml/2006/main">
              <a:ext uri="{FF2B5EF4-FFF2-40B4-BE49-F238E27FC236}">
                <a16:creationId xmlns:a16="http://schemas.microsoft.com/office/drawing/2014/main" id="{98F20CD0-4F0C-4343-A007-120C6E4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85925"/>
            <a:ext cx="3276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32"/>
          </a:solidFill>
          <a:ln xmlns:a="http://schemas.openxmlformats.org/drawingml/2006/main" w="0">
            <a:solidFill>
              <a:srgbClr val="C68A32"/>
            </a:solidFill>
            <a:prstDash val="solid"/>
          </a:ln>
        </p:spPr>
      </p:sp>
      <p:sp>
        <p:nvSpPr>
          <p:cNvPr id="29" name="b-regions-label">
            <a:extLst xmlns:a="http://schemas.openxmlformats.org/drawingml/2006/main">
              <a:ext uri="{FF2B5EF4-FFF2-40B4-BE49-F238E27FC236}">
                <a16:creationId xmlns:a16="http://schemas.microsoft.com/office/drawing/2014/main" id="{9EF87800-6431-4F22-8ADD-C9E9BB1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Regional topology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b-full-edge">
            <a:extLst xmlns:a="http://schemas.openxmlformats.org/drawingml/2006/main">
              <a:ext uri="{FF2B5EF4-FFF2-40B4-BE49-F238E27FC236}">
                <a16:creationId xmlns:a16="http://schemas.microsoft.com/office/drawing/2014/main" id="{1072937A-22F2-4D6B-B1F4-6A076537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5740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C68A32"/>
            </a:solidFill>
            <a:prstDash val="solid"/>
          </a:ln>
        </p:spPr>
      </p:sp>
      <p:pic>
        <p:nvPicPr>
          <p:cNvPr id="140" name="图片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dfe5e9a4d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20764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2" name="b-center-edge">
            <a:extLst xmlns:a="http://schemas.openxmlformats.org/drawingml/2006/main">
              <a:ext uri="{FF2B5EF4-FFF2-40B4-BE49-F238E27FC236}">
                <a16:creationId xmlns:a16="http://schemas.microsoft.com/office/drawing/2014/main" id="{5E245084-4771-48AB-9BD2-2EB490B5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B84067"/>
            </a:solidFill>
            <a:prstDash val="solid"/>
          </a:ln>
        </p:spPr>
      </p:sp>
      <p:pic>
        <p:nvPicPr>
          <p:cNvPr id="142" name="图片 1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279fa3a67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0764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4" name="b-cross-edge">
            <a:extLst xmlns:a="http://schemas.openxmlformats.org/drawingml/2006/main">
              <a:ext uri="{FF2B5EF4-FFF2-40B4-BE49-F238E27FC236}">
                <a16:creationId xmlns:a16="http://schemas.microsoft.com/office/drawing/2014/main" id="{30F9DCA9-961B-4BF5-A8BF-756521C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8866B"/>
            </a:solidFill>
            <a:prstDash val="solid"/>
          </a:ln>
        </p:spPr>
      </p:sp>
      <p:pic>
        <p:nvPicPr>
          <p:cNvPr id="144" name="图片 1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4b0408ae2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764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6" name="b-full-label">
            <a:extLst xmlns:a="http://schemas.openxmlformats.org/drawingml/2006/main">
              <a:ext uri="{FF2B5EF4-FFF2-40B4-BE49-F238E27FC236}">
                <a16:creationId xmlns:a16="http://schemas.microsoft.com/office/drawing/2014/main" id="{785C44D3-8DD8-49ED-8062-D53E37D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146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Full-view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b-center-label">
            <a:extLst xmlns:a="http://schemas.openxmlformats.org/drawingml/2006/main">
              <a:ext uri="{FF2B5EF4-FFF2-40B4-BE49-F238E27FC236}">
                <a16:creationId xmlns:a16="http://schemas.microsoft.com/office/drawing/2014/main" id="{51BA2A5C-31EC-46C9-933C-92760229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146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Center-only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b-cross-label">
            <a:extLst xmlns:a="http://schemas.openxmlformats.org/drawingml/2006/main">
              <a:ext uri="{FF2B5EF4-FFF2-40B4-BE49-F238E27FC236}">
                <a16:creationId xmlns:a16="http://schemas.microsoft.com/office/drawing/2014/main" id="{118A047A-7BB0-4B28-B2FA-553C63A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11677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Center-plus-cross</a:t>
            </a:r>
            <a:endParaRPr sz="120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b-divider">
            <a:extLst xmlns:a="http://schemas.openxmlformats.org/drawingml/2006/main">
              <a:ext uri="{FF2B5EF4-FFF2-40B4-BE49-F238E27FC236}">
                <a16:creationId xmlns:a16="http://schemas.microsoft.com/office/drawing/2014/main" id="{D4EE8B2A-3C7F-4D01-9A81-A2C32A7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71850"/>
            <a:ext cx="304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40" name="b-aperture-label">
            <a:extLst xmlns:a="http://schemas.openxmlformats.org/drawingml/2006/main">
              <a:ext uri="{FF2B5EF4-FFF2-40B4-BE49-F238E27FC236}">
                <a16:creationId xmlns:a16="http://schemas.microsoft.com/office/drawing/2014/main" id="{3F2C7427-1A83-4617-A9E3-6C73BA22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Pixel-space apertures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b-rect-edge">
            <a:extLst xmlns:a="http://schemas.openxmlformats.org/drawingml/2006/main">
              <a:ext uri="{FF2B5EF4-FFF2-40B4-BE49-F238E27FC236}">
                <a16:creationId xmlns:a16="http://schemas.microsoft.com/office/drawing/2014/main" id="{A58726BB-4B60-46F6-B053-2C7FC6A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C68A32"/>
            </a:solidFill>
            <a:prstDash val="solid"/>
          </a:ln>
        </p:spPr>
      </p:sp>
      <p:pic>
        <p:nvPicPr>
          <p:cNvPr id="151" name="图片 1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50d0966db42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38481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3" name="b-circle-edge">
            <a:extLst xmlns:a="http://schemas.openxmlformats.org/drawingml/2006/main">
              <a:ext uri="{FF2B5EF4-FFF2-40B4-BE49-F238E27FC236}">
                <a16:creationId xmlns:a16="http://schemas.microsoft.com/office/drawing/2014/main" id="{363E3A42-90BC-465E-89BF-4A1A0EF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C68A32"/>
            </a:solidFill>
            <a:prstDash val="solid"/>
          </a:ln>
        </p:spPr>
      </p:sp>
      <p:pic>
        <p:nvPicPr>
          <p:cNvPr id="153" name="图片 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4feb831ec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38481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5" name="b-severe-edge">
            <a:extLst xmlns:a="http://schemas.openxmlformats.org/drawingml/2006/main">
              <a:ext uri="{FF2B5EF4-FFF2-40B4-BE49-F238E27FC236}">
                <a16:creationId xmlns:a16="http://schemas.microsoft.com/office/drawing/2014/main" id="{3A2C1A6B-C894-4E87-A38F-1FFA13D8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81915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B84067"/>
            </a:solidFill>
            <a:prstDash val="solid"/>
          </a:ln>
        </p:spPr>
      </p:sp>
      <p:pic>
        <p:nvPicPr>
          <p:cNvPr id="155" name="图片 1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2d8b188f0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8481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7" name="b-rect-label">
            <a:extLst xmlns:a="http://schemas.openxmlformats.org/drawingml/2006/main">
              <a:ext uri="{FF2B5EF4-FFF2-40B4-BE49-F238E27FC236}">
                <a16:creationId xmlns:a16="http://schemas.microsoft.com/office/drawing/2014/main" id="{F582B9CA-4698-4824-9F84-7E8F5845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76775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Centered rect.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 = 0.55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b-circle-label">
            <a:extLst xmlns:a="http://schemas.openxmlformats.org/drawingml/2006/main">
              <a:ext uri="{FF2B5EF4-FFF2-40B4-BE49-F238E27FC236}">
                <a16:creationId xmlns:a16="http://schemas.microsoft.com/office/drawing/2014/main" id="{FFEA1219-B7AF-42CC-9723-2917262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76775"/>
            <a:ext cx="13201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Matched circle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f = 0.55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b-severe-label">
            <a:extLst xmlns:a="http://schemas.openxmlformats.org/drawingml/2006/main">
              <a:ext uri="{FF2B5EF4-FFF2-40B4-BE49-F238E27FC236}">
                <a16:creationId xmlns:a16="http://schemas.microsoft.com/office/drawing/2014/main" id="{95E6BD0E-6D69-4CAF-AE75-E16DD3D4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76775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Severe rect.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09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f = 0.35</a:t>
            </a:r>
            <a:endParaRPr sz="12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b-control">
            <a:extLst xmlns:a="http://schemas.openxmlformats.org/drawingml/2006/main">
              <a:ext uri="{FF2B5EF4-FFF2-40B4-BE49-F238E27FC236}">
                <a16:creationId xmlns:a16="http://schemas.microsoft.com/office/drawing/2014/main" id="{47041518-D589-4445-B403-1F1BB1C5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0070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51" name="b-control-copy">
            <a:extLst xmlns:a="http://schemas.openxmlformats.org/drawingml/2006/main">
              <a:ext uri="{FF2B5EF4-FFF2-40B4-BE49-F238E27FC236}">
                <a16:creationId xmlns:a16="http://schemas.microsoft.com/office/drawing/2014/main" id="{31D45058-E615-40CC-BEB6-6EECA78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2452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Source DR label fixed; available evidence changes by area, location, shape, or topology.</a:t>
            </a:r>
            <a:endParaRPr sz="12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header-C-badge">
            <a:extLst xmlns:a="http://schemas.openxmlformats.org/drawingml/2006/main">
              <a:ext uri="{FF2B5EF4-FFF2-40B4-BE49-F238E27FC236}">
                <a16:creationId xmlns:a16="http://schemas.microsoft.com/office/drawing/2014/main" id="{0478441C-5042-4D96-9111-014CA4F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53" name="header-C-letter">
            <a:extLst xmlns:a="http://schemas.openxmlformats.org/drawingml/2006/main">
              <a:ext uri="{FF2B5EF4-FFF2-40B4-BE49-F238E27FC236}">
                <a16:creationId xmlns:a16="http://schemas.microsoft.com/office/drawing/2014/main" id="{59034388-3EBE-4F01-BE98-21C38E8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header-C-title">
            <a:extLst xmlns:a="http://schemas.openxmlformats.org/drawingml/2006/main">
              <a:ext uri="{FF2B5EF4-FFF2-40B4-BE49-F238E27FC236}">
                <a16:creationId xmlns:a16="http://schemas.microsoft.com/office/drawing/2014/main" id="{9EC25448-0CEC-42E5-82A6-5EEA79B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049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Visibility-conditioned</a:t>
            </a:r>
            <a:endParaRPr sz="165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" name="header-C-rule">
            <a:extLst xmlns:a="http://schemas.openxmlformats.org/drawingml/2006/main">
              <a:ext uri="{FF2B5EF4-FFF2-40B4-BE49-F238E27FC236}">
                <a16:creationId xmlns:a16="http://schemas.microsoft.com/office/drawing/2014/main" id="{C23B0963-09BF-4C0C-9C2D-18A93F75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85925"/>
            <a:ext cx="3276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56" name="c-intro">
            <a:extLst xmlns:a="http://schemas.openxmlformats.org/drawingml/2006/main">
              <a:ext uri="{FF2B5EF4-FFF2-40B4-BE49-F238E27FC236}">
                <a16:creationId xmlns:a16="http://schemas.microsoft.com/office/drawing/2014/main" id="{43A5ACF8-3416-4529-B974-3A154CCD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Only regions marked visible enter the model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c-image-edge">
            <a:extLst xmlns:a="http://schemas.openxmlformats.org/drawingml/2006/main">
              <a:ext uri="{FF2B5EF4-FFF2-40B4-BE49-F238E27FC236}">
                <a16:creationId xmlns:a16="http://schemas.microsoft.com/office/drawing/2014/main" id="{D4C6D53E-AACB-430D-81E8-EAD87BF6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125730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8866B"/>
            </a:solidFill>
            <a:prstDash val="solid"/>
          </a:ln>
        </p:spPr>
      </p:sp>
      <p:pic>
        <p:nvPicPr>
          <p:cNvPr id="167" name="图片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dfe5e9a4d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955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59" name="c-mask">
            <a:extLst xmlns:a="http://schemas.openxmlformats.org/drawingml/2006/main">
              <a:ext uri="{FF2B5EF4-FFF2-40B4-BE49-F238E27FC236}">
                <a16:creationId xmlns:a16="http://schemas.microsoft.com/office/drawing/2014/main" id="{D404D177-3951-41FC-A26B-91B80D30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10490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1E8"/>
          </a:solidFill>
          <a:ln xmlns:a="http://schemas.openxmlformats.org/drawingml/2006/main" w="9525">
            <a:solidFill>
              <a:srgbClr val="78866B"/>
            </a:solidFill>
            <a:prstDash val="solid"/>
          </a:ln>
        </p:spPr>
      </p:sp>
      <p:sp>
        <p:nvSpPr>
          <p:cNvPr id="60" name="c-mask-title">
            <a:extLst xmlns:a="http://schemas.openxmlformats.org/drawingml/2006/main">
              <a:ext uri="{FF2B5EF4-FFF2-40B4-BE49-F238E27FC236}">
                <a16:creationId xmlns:a16="http://schemas.microsoft.com/office/drawing/2014/main" id="{403F16BA-3F2B-4CAC-9014-D3F6F9A9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880" y="2252980"/>
            <a:ext cx="1181735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Visibility mask</a:t>
            </a:r>
            <a:endParaRPr sz="124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c-mask-copy">
            <a:extLst xmlns:a="http://schemas.openxmlformats.org/drawingml/2006/main">
              <a:ext uri="{FF2B5EF4-FFF2-40B4-BE49-F238E27FC236}">
                <a16:creationId xmlns:a16="http://schemas.microsoft.com/office/drawing/2014/main" id="{1A114023-2452-408E-80CF-A5E4D472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Selects visible</a:t>
            </a:r>
            <a:endParaRPr sz="1165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endParaRPr sz="1165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" name="c-down-one">
            <a:extLst xmlns:a="http://schemas.openxmlformats.org/drawingml/2006/main">
              <a:ext uri="{FF2B5EF4-FFF2-40B4-BE49-F238E27FC236}">
                <a16:creationId xmlns:a16="http://schemas.microsoft.com/office/drawing/2014/main" id="{FB178BE2-BD34-4260-9100-626A2EC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67100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63" name="c-aggregation">
            <a:extLst xmlns:a="http://schemas.openxmlformats.org/drawingml/2006/main">
              <a:ext uri="{FF2B5EF4-FFF2-40B4-BE49-F238E27FC236}">
                <a16:creationId xmlns:a16="http://schemas.microsoft.com/office/drawing/2014/main" id="{525D315B-11AC-4DE0-BC6B-3530DBA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2895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DF1E8"/>
          </a:solidFill>
          <a:ln xmlns:a="http://schemas.openxmlformats.org/drawingml/2006/main" w="9525">
            <a:solidFill>
              <a:srgbClr val="78866B"/>
            </a:solidFill>
            <a:prstDash val="solid"/>
          </a:ln>
        </p:spPr>
      </p:sp>
      <p:sp>
        <p:nvSpPr>
          <p:cNvPr id="64" name="c-aggregation-title">
            <a:extLst xmlns:a="http://schemas.openxmlformats.org/drawingml/2006/main">
              <a:ext uri="{FF2B5EF4-FFF2-40B4-BE49-F238E27FC236}">
                <a16:creationId xmlns:a16="http://schemas.microsoft.com/office/drawing/2014/main" id="{32A641C2-58C7-4860-887C-B8059154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Visibility-conditioned aggregation</a:t>
            </a:r>
            <a:endParaRPr sz="1275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c-aggregation-copy">
            <a:extLst xmlns:a="http://schemas.openxmlformats.org/drawingml/2006/main">
              <a:ext uri="{FF2B5EF4-FFF2-40B4-BE49-F238E27FC236}">
                <a16:creationId xmlns:a16="http://schemas.microsoft.com/office/drawing/2014/main" id="{27D615B5-410C-4363-A9CA-B4BA355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Unavailable regions contribute zero evidence; visible regions are combined for DR severity inference.</a:t>
            </a:r>
            <a:endParaRPr sz="1165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c-down-two">
            <a:extLst xmlns:a="http://schemas.openxmlformats.org/drawingml/2006/main">
              <a:ext uri="{FF2B5EF4-FFF2-40B4-BE49-F238E27FC236}">
                <a16:creationId xmlns:a16="http://schemas.microsoft.com/office/drawing/2014/main" id="{D2FE7388-B16E-493F-AE76-24AD8C3D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76800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6B"/>
          </a:solidFill>
          <a:ln xmlns:a="http://schemas.openxmlformats.org/drawingml/2006/main" w="0">
            <a:solidFill>
              <a:srgbClr val="78866B"/>
            </a:solidFill>
            <a:prstDash val="solid"/>
          </a:ln>
        </p:spPr>
      </p:sp>
      <p:sp>
        <p:nvSpPr>
          <p:cNvPr id="67" name="c-output">
            <a:extLst xmlns:a="http://schemas.openxmlformats.org/drawingml/2006/main">
              <a:ext uri="{FF2B5EF4-FFF2-40B4-BE49-F238E27FC236}">
                <a16:creationId xmlns:a16="http://schemas.microsoft.com/office/drawing/2014/main" id="{750E9CB4-AD7D-4BA1-BF4A-D4D7FDF6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29718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10478">
            <a:solidFill>
              <a:srgbClr val="78866B"/>
            </a:solidFill>
            <a:prstDash val="solid"/>
          </a:ln>
        </p:spPr>
      </p:sp>
      <p:sp>
        <p:nvSpPr>
          <p:cNvPr id="68" name="c-output-title">
            <a:extLst xmlns:a="http://schemas.openxmlformats.org/drawingml/2006/main">
              <a:ext uri="{FF2B5EF4-FFF2-40B4-BE49-F238E27FC236}">
                <a16:creationId xmlns:a16="http://schemas.microsoft.com/office/drawing/2014/main" id="{A05826F0-4D9D-45D9-8C13-069A3FA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43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Three-class DR severity prediction</a:t>
            </a:r>
            <a:endParaRPr sz="135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9" name="c-output-rule">
            <a:extLst xmlns:a="http://schemas.openxmlformats.org/drawingml/2006/main">
              <a:ext uri="{FF2B5EF4-FFF2-40B4-BE49-F238E27FC236}">
                <a16:creationId xmlns:a16="http://schemas.microsoft.com/office/drawing/2014/main" id="{4E5B737B-ECDB-49E2-BA45-AC2C82A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70" name="c-output-subtitle">
            <a:extLst xmlns:a="http://schemas.openxmlformats.org/drawingml/2006/main">
              <a:ext uri="{FF2B5EF4-FFF2-40B4-BE49-F238E27FC236}">
                <a16:creationId xmlns:a16="http://schemas.microsoft.com/office/drawing/2014/main" id="{73A5EDA7-40D0-49D6-AD88-9BEA4B6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9595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90" b="0" i="1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Predicted class</a:t>
            </a:r>
            <a:endParaRPr sz="1200" b="0" i="1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1" name="c-normal-pill">
            <a:extLst xmlns:a="http://schemas.openxmlformats.org/drawingml/2006/main">
              <a:ext uri="{FF2B5EF4-FFF2-40B4-BE49-F238E27FC236}">
                <a16:creationId xmlns:a16="http://schemas.microsoft.com/office/drawing/2014/main" id="{769503CF-7BE1-4D77-BB8C-5C618DD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53125"/>
            <a:ext cx="6858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72" name="c-npdr-pill">
            <a:extLst xmlns:a="http://schemas.openxmlformats.org/drawingml/2006/main">
              <a:ext uri="{FF2B5EF4-FFF2-40B4-BE49-F238E27FC236}">
                <a16:creationId xmlns:a16="http://schemas.microsoft.com/office/drawing/2014/main" id="{32E1CBA3-A66C-4083-A7DE-066FD6A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53125"/>
            <a:ext cx="6858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8866B"/>
            </a:solidFill>
            <a:prstDash val="solid"/>
          </a:ln>
        </p:spPr>
      </p:sp>
      <p:sp>
        <p:nvSpPr>
          <p:cNvPr id="73" name="c-pdr-pill">
            <a:extLst xmlns:a="http://schemas.openxmlformats.org/drawingml/2006/main">
              <a:ext uri="{FF2B5EF4-FFF2-40B4-BE49-F238E27FC236}">
                <a16:creationId xmlns:a16="http://schemas.microsoft.com/office/drawing/2014/main" id="{C8CF8F34-0673-47A0-967E-AF0B19BB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53125"/>
            <a:ext cx="6858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067"/>
            </a:solidFill>
            <a:prstDash val="solid"/>
          </a:ln>
        </p:spPr>
      </p:sp>
      <p:sp>
        <p:nvSpPr>
          <p:cNvPr id="74" name="c-normal-text">
            <a:extLst xmlns:a="http://schemas.openxmlformats.org/drawingml/2006/main">
              <a:ext uri="{FF2B5EF4-FFF2-40B4-BE49-F238E27FC236}">
                <a16:creationId xmlns:a16="http://schemas.microsoft.com/office/drawing/2014/main" id="{5E042C44-CA4F-4D0A-B3F5-09441CE3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9122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Normal</a:t>
            </a:r>
            <a:endParaRPr sz="116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5" name="c-npdr-text">
            <a:extLst xmlns:a="http://schemas.openxmlformats.org/drawingml/2006/main">
              <a:ext uri="{FF2B5EF4-FFF2-40B4-BE49-F238E27FC236}">
                <a16:creationId xmlns:a16="http://schemas.microsoft.com/office/drawing/2014/main" id="{0FD065E2-25A9-458E-8A92-10B542B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9122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NPDR</a:t>
            </a:r>
            <a:endParaRPr sz="1165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6" name="c-pdr-text">
            <a:extLst xmlns:a="http://schemas.openxmlformats.org/drawingml/2006/main">
              <a:ext uri="{FF2B5EF4-FFF2-40B4-BE49-F238E27FC236}">
                <a16:creationId xmlns:a16="http://schemas.microsoft.com/office/drawing/2014/main" id="{12657ED4-801E-4990-8684-D22D137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9122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PDR</a:t>
            </a:r>
            <a:endParaRPr sz="1165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header-D-badge">
            <a:extLst xmlns:a="http://schemas.openxmlformats.org/drawingml/2006/main">
              <a:ext uri="{FF2B5EF4-FFF2-40B4-BE49-F238E27FC236}">
                <a16:creationId xmlns:a16="http://schemas.microsoft.com/office/drawing/2014/main" id="{AC02B6C8-D634-46DA-B397-B2FC4BB8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3810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78" name="header-D-letter">
            <a:extLst xmlns:a="http://schemas.openxmlformats.org/drawingml/2006/main">
              <a:ext uri="{FF2B5EF4-FFF2-40B4-BE49-F238E27FC236}">
                <a16:creationId xmlns:a16="http://schemas.microsoft.com/office/drawing/2014/main" id="{ED86515C-5F69-4BFD-88A3-2676EC59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3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  <a:endParaRPr sz="1165" b="1" i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9" name="header-D-title">
            <a:extLst xmlns:a="http://schemas.openxmlformats.org/drawingml/2006/main">
              <a:ext uri="{FF2B5EF4-FFF2-40B4-BE49-F238E27FC236}">
                <a16:creationId xmlns:a16="http://schemas.microsoft.com/office/drawing/2014/main" id="{EF9D2F42-25A4-47F0-86A9-A357AF4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04925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Evidence chain</a:t>
            </a:r>
            <a:endParaRPr sz="1650" b="1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header-D-rule">
            <a:extLst xmlns:a="http://schemas.openxmlformats.org/drawingml/2006/main">
              <a:ext uri="{FF2B5EF4-FFF2-40B4-BE49-F238E27FC236}">
                <a16:creationId xmlns:a16="http://schemas.microsoft.com/office/drawing/2014/main" id="{02BEB8F0-1F82-4F78-AFB6-ADA335F0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685925"/>
            <a:ext cx="3390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67"/>
          </a:solidFill>
          <a:ln xmlns:a="http://schemas.openxmlformats.org/drawingml/2006/main" w="0">
            <a:solidFill>
              <a:srgbClr val="B84067"/>
            </a:solidFill>
            <a:prstDash val="solid"/>
          </a:ln>
        </p:spPr>
      </p:sp>
      <p:sp>
        <p:nvSpPr>
          <p:cNvPr id="81" name="d-intro">
            <a:extLst xmlns:a="http://schemas.openxmlformats.org/drawingml/2006/main">
              <a:ext uri="{FF2B5EF4-FFF2-40B4-BE49-F238E27FC236}">
                <a16:creationId xmlns:a16="http://schemas.microsoft.com/office/drawing/2014/main" id="{F494F9D8-7988-4D0D-93FF-77AE5F8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7526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The story is tested, not assumed</a:t>
            </a:r>
            <a:endParaRPr sz="1400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2" name="d-box-0">
            <a:extLst xmlns:a="http://schemas.openxmlformats.org/drawingml/2006/main">
              <a:ext uri="{FF2B5EF4-FFF2-40B4-BE49-F238E27FC236}">
                <a16:creationId xmlns:a16="http://schemas.microsoft.com/office/drawing/2014/main" id="{8EE23767-B37F-4532-B384-22AEDDE7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210435"/>
            <a:ext cx="3086100" cy="78041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7CD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83" name="d-head-0">
            <a:extLst xmlns:a="http://schemas.openxmlformats.org/drawingml/2006/main">
              <a:ext uri="{FF2B5EF4-FFF2-40B4-BE49-F238E27FC236}">
                <a16:creationId xmlns:a16="http://schemas.microsoft.com/office/drawing/2014/main" id="{85846D2B-EACD-4434-AD32-08D97A0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270125"/>
            <a:ext cx="2781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C68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C68A32"/>
                </a:solidFill>
                <a:latin typeface="Times New Roman"/>
                <a:ea typeface="Times New Roman"/>
                <a:cs typeface="Times New Roman"/>
              </a:rPr>
              <a:t>Internal test</a:t>
            </a:r>
            <a:endParaRPr sz="1400" b="1" i="0">
              <a:solidFill>
                <a:srgbClr val="C68A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4" name="d-copy-0">
            <a:extLst xmlns:a="http://schemas.openxmlformats.org/drawingml/2006/main">
              <a:ext uri="{FF2B5EF4-FFF2-40B4-BE49-F238E27FC236}">
                <a16:creationId xmlns:a16="http://schemas.microsoft.com/office/drawing/2014/main" id="{C6861967-5E14-45EC-9FF2-76EC423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5527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390 held-out images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five source-training seeds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d-arrow-0">
            <a:extLst xmlns:a="http://schemas.openxmlformats.org/drawingml/2006/main">
              <a:ext uri="{FF2B5EF4-FFF2-40B4-BE49-F238E27FC236}">
                <a16:creationId xmlns:a16="http://schemas.microsoft.com/office/drawing/2014/main" id="{AE2DB056-99B1-4F5C-B9A0-F27B9136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105150"/>
            <a:ext cx="1905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6259"/>
          </a:solidFill>
          <a:ln xmlns:a="http://schemas.openxmlformats.org/drawingml/2006/main" w="0">
            <a:solidFill>
              <a:srgbClr val="6F6259"/>
            </a:solidFill>
            <a:prstDash val="solid"/>
          </a:ln>
        </p:spPr>
      </p:sp>
      <p:sp>
        <p:nvSpPr>
          <p:cNvPr id="86" name="d-box-1">
            <a:extLst xmlns:a="http://schemas.openxmlformats.org/drawingml/2006/main">
              <a:ext uri="{FF2B5EF4-FFF2-40B4-BE49-F238E27FC236}">
                <a16:creationId xmlns:a16="http://schemas.microsoft.com/office/drawing/2014/main" id="{15789F51-E7BB-4336-8C28-44CF71B8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383280"/>
            <a:ext cx="3086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1E8"/>
          </a:solidFill>
          <a:ln xmlns:a="http://schemas.openxmlformats.org/drawingml/2006/main" w="9525">
            <a:solidFill>
              <a:srgbClr val="78866B"/>
            </a:solidFill>
            <a:prstDash val="solid"/>
          </a:ln>
        </p:spPr>
      </p:sp>
      <p:sp>
        <p:nvSpPr>
          <p:cNvPr id="87" name="d-head-1">
            <a:extLst xmlns:a="http://schemas.openxmlformats.org/drawingml/2006/main">
              <a:ext uri="{FF2B5EF4-FFF2-40B4-BE49-F238E27FC236}">
                <a16:creationId xmlns:a16="http://schemas.microsoft.com/office/drawing/2014/main" id="{8DDD667C-F4DD-4A85-A6F9-A5CFB28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467100"/>
            <a:ext cx="2781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78866B"/>
                </a:solidFill>
                <a:latin typeface="Times New Roman"/>
                <a:ea typeface="Times New Roman"/>
                <a:cs typeface="Times New Roman"/>
              </a:rPr>
              <a:t>Functional occlusion test</a:t>
            </a:r>
            <a:endParaRPr sz="1400" b="1" i="0">
              <a:solidFill>
                <a:srgbClr val="78866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8" name="d-copy-1">
            <a:extLst xmlns:a="http://schemas.openxmlformats.org/drawingml/2006/main">
              <a:ext uri="{FF2B5EF4-FFF2-40B4-BE49-F238E27FC236}">
                <a16:creationId xmlns:a16="http://schemas.microsoft.com/office/drawing/2014/main" id="{C2B50B1F-58A2-410D-B6B8-768DF20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71030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One-region occlusion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versus learned attention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9" name="d-arrow-1">
            <a:extLst xmlns:a="http://schemas.openxmlformats.org/drawingml/2006/main">
              <a:ext uri="{FF2B5EF4-FFF2-40B4-BE49-F238E27FC236}">
                <a16:creationId xmlns:a16="http://schemas.microsoft.com/office/drawing/2014/main" id="{8B45988C-C242-4407-BB44-68565A0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219575"/>
            <a:ext cx="1905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6259"/>
          </a:solidFill>
          <a:ln xmlns:a="http://schemas.openxmlformats.org/drawingml/2006/main" w="0">
            <a:solidFill>
              <a:srgbClr val="6F6259"/>
            </a:solidFill>
            <a:prstDash val="solid"/>
          </a:ln>
        </p:spPr>
      </p:sp>
      <p:sp>
        <p:nvSpPr>
          <p:cNvPr id="90" name="d-box-2">
            <a:extLst xmlns:a="http://schemas.openxmlformats.org/drawingml/2006/main">
              <a:ext uri="{FF2B5EF4-FFF2-40B4-BE49-F238E27FC236}">
                <a16:creationId xmlns:a16="http://schemas.microsoft.com/office/drawing/2014/main" id="{302502B7-BB96-4FE2-9311-5230CE2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04690"/>
            <a:ext cx="3086100" cy="8102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DF1"/>
          </a:solidFill>
          <a:ln xmlns:a="http://schemas.openxmlformats.org/drawingml/2006/main" w="9525">
            <a:solidFill>
              <a:srgbClr val="B84067"/>
            </a:solidFill>
            <a:prstDash val="solid"/>
          </a:ln>
        </p:spPr>
      </p:sp>
      <p:sp>
        <p:nvSpPr>
          <p:cNvPr id="91" name="d-head-2">
            <a:extLst xmlns:a="http://schemas.openxmlformats.org/drawingml/2006/main">
              <a:ext uri="{FF2B5EF4-FFF2-40B4-BE49-F238E27FC236}">
                <a16:creationId xmlns:a16="http://schemas.microsoft.com/office/drawing/2014/main" id="{6293B21F-D0EE-4C62-BF9C-A17EBE79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574540"/>
            <a:ext cx="2781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B84067"/>
                </a:solidFill>
                <a:latin typeface="Times New Roman"/>
                <a:ea typeface="Times New Roman"/>
                <a:cs typeface="Times New Roman"/>
              </a:rPr>
              <a:t>Independent UWF evaluation</a:t>
            </a:r>
            <a:endParaRPr sz="1400" b="1" i="0">
              <a:solidFill>
                <a:srgbClr val="B8406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d-copy-2">
            <a:extLst xmlns:a="http://schemas.openxmlformats.org/drawingml/2006/main">
              <a:ext uri="{FF2B5EF4-FFF2-40B4-BE49-F238E27FC236}">
                <a16:creationId xmlns:a16="http://schemas.microsoft.com/office/drawing/2014/main" id="{0480FD8A-FEF8-44CD-BF16-D304707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8768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MMRDR-UWF: 2,597 images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no target adaptation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3" name="d-arrow-2">
            <a:extLst xmlns:a="http://schemas.openxmlformats.org/drawingml/2006/main">
              <a:ext uri="{FF2B5EF4-FFF2-40B4-BE49-F238E27FC236}">
                <a16:creationId xmlns:a16="http://schemas.microsoft.com/office/drawing/2014/main" id="{C63003F4-E356-4F8D-B3E5-91FAC94D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438775"/>
            <a:ext cx="1905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6259"/>
          </a:solidFill>
          <a:ln xmlns:a="http://schemas.openxmlformats.org/drawingml/2006/main" w="0">
            <a:solidFill>
              <a:srgbClr val="6F6259"/>
            </a:solidFill>
            <a:prstDash val="solid"/>
          </a:ln>
        </p:spPr>
      </p:sp>
      <p:sp>
        <p:nvSpPr>
          <p:cNvPr id="94" name="d-box-3">
            <a:extLst xmlns:a="http://schemas.openxmlformats.org/drawingml/2006/main">
              <a:ext uri="{FF2B5EF4-FFF2-40B4-BE49-F238E27FC236}">
                <a16:creationId xmlns:a16="http://schemas.microsoft.com/office/drawing/2014/main" id="{EDA7B73C-C6DA-4586-A543-699D0F00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724525"/>
            <a:ext cx="3086100" cy="81661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965E4A"/>
            </a:solidFill>
            <a:prstDash val="solid"/>
          </a:ln>
        </p:spPr>
      </p:sp>
      <p:sp>
        <p:nvSpPr>
          <p:cNvPr id="95" name="d-head-3">
            <a:extLst xmlns:a="http://schemas.openxmlformats.org/drawingml/2006/main">
              <a:ext uri="{FF2B5EF4-FFF2-40B4-BE49-F238E27FC236}">
                <a16:creationId xmlns:a16="http://schemas.microsoft.com/office/drawing/2014/main" id="{597D01D9-643C-4ECF-9E87-47005E5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810250"/>
            <a:ext cx="2781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4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i="0">
                <a:solidFill>
                  <a:srgbClr val="965E4A"/>
                </a:solidFill>
                <a:latin typeface="Times New Roman"/>
                <a:ea typeface="Times New Roman"/>
                <a:cs typeface="Times New Roman"/>
              </a:rPr>
              <a:t>Paired-view audit</a:t>
            </a:r>
            <a:endParaRPr sz="1400" b="1" i="0">
              <a:solidFill>
                <a:srgbClr val="965E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6" name="d-copy-3">
            <a:extLst xmlns:a="http://schemas.openxmlformats.org/drawingml/2006/main">
              <a:ext uri="{FF2B5EF4-FFF2-40B4-BE49-F238E27FC236}">
                <a16:creationId xmlns:a16="http://schemas.microsoft.com/office/drawing/2014/main" id="{F80E5588-A5A2-476A-B8D8-38CF67C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0864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Ranks limited-view underestimation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14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2720"/>
                </a:solidFill>
                <a:latin typeface="Times New Roman"/>
                <a:ea typeface="Times New Roman"/>
                <a:cs typeface="Times New Roman"/>
              </a:rPr>
              <a:t>requires two predictions</a:t>
            </a:r>
            <a:endParaRPr sz="1200" b="0" i="0">
              <a:solidFill>
                <a:srgbClr val="33272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7" name="bottom-rule">
            <a:extLst xmlns:a="http://schemas.openxmlformats.org/drawingml/2006/main">
              <a:ext uri="{FF2B5EF4-FFF2-40B4-BE49-F238E27FC236}">
                <a16:creationId xmlns:a16="http://schemas.microsoft.com/office/drawing/2014/main" id="{06E4A923-2146-443D-A963-CB095A4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14325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solidFill>
              <a:srgbClr val="D8CABB"/>
            </a:solidFill>
            <a:prstDash val="solid"/>
          </a:ln>
        </p:spPr>
      </p:sp>
      <p:sp>
        <p:nvSpPr>
          <p:cNvPr id="98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F3D122C6-1AD8-4127-9485-AA033AB2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19950"/>
            <a:ext cx="143256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4F0EA"/>
          </a:solidFill>
          <a:ln xmlns:a="http://schemas.openxmlformats.org/drawingml/2006/main" w="9525">
            <a:solidFill>
              <a:srgbClr val="C68A32"/>
            </a:solidFill>
            <a:prstDash val="solid"/>
          </a:ln>
        </p:spPr>
      </p:sp>
      <p:sp>
        <p:nvSpPr>
          <p:cNvPr id="99" name="takeaway">
            <a:extLst xmlns:a="http://schemas.openxmlformats.org/drawingml/2006/main">
              <a:ext uri="{FF2B5EF4-FFF2-40B4-BE49-F238E27FC236}">
                <a16:creationId xmlns:a16="http://schemas.microsoft.com/office/drawing/2014/main" id="{DF6D86DC-F9CB-496C-B0C3-FE26F3C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704C2B"/>
                </a:solidFill>
                <a:latin typeface="Times New Roman"/>
                <a:ea typeface="Times New Roman"/>
                <a:cs typeface="Times New Roman"/>
              </a:rPr>
              <a:t>Core finding: DR model behavior depends on which retinal evidence is available and how it is spatially organized—not on photographic quality or field area alone.</a:t>
            </a:r>
            <a:endParaRPr sz="1425" b="1" i="0">
              <a:solidFill>
                <a:srgbClr val="704C2B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745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2026-08-21T02:04:11.8670000Z</dcterms:created>
  <dcterms:modified xsi:type="dcterms:W3CDTF">2026-08-21T02:04:11.8670000Z</dcterms:modified>
</coreProperties>
</file>